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9320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56248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23176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0104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57032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23960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39712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3813048"/>
            <a:ext cx="493776" cy="310896"/>
          </a:xfrm>
          <a:prstGeom prst="rect">
            <a:avLst/>
          </a:prstGeom>
          <a:solidFill>
            <a:srgbClr val="5C8A5A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73568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0496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56248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23176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90104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39712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73568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0496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07424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280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 Interlocking Brick</a:t>
            </a:r>
            <a:endParaRPr lang="en-US" sz="4200" dirty="0"/>
          </a:p>
        </p:txBody>
      </p:sp>
      <p:sp>
        <p:nvSpPr>
          <p:cNvPr id="27" name="Shape 25"/>
          <p:cNvSpPr/>
          <p:nvPr/>
        </p:nvSpPr>
        <p:spPr>
          <a:xfrm>
            <a:off x="566928" y="2084832"/>
            <a:ext cx="502920" cy="64008"/>
          </a:xfrm>
          <a:prstGeom prst="rect">
            <a:avLst/>
          </a:prstGeom>
          <a:solidFill>
            <a:srgbClr val="5C8A5A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240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DE7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comparison — pros, cons &amp; real cost savings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66928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Stabilised Earth Block (CSEB)</a:t>
            </a:r>
            <a:pPr indent="0" marL="0">
              <a:buNone/>
            </a:pPr>
            <a:r>
              <a:rPr lang="en-US" sz="1400" dirty="0">
                <a:solidFill>
                  <a:srgbClr val="BC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evidence-based   ·   sources cited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C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TERRABLOCK  ·  TELANGANA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you build with mud interlocking brick?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answer: yes — for the right building, in the right climate. Here is the evidence.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C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15–35%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wall cost vs conventional brick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26201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−80%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4747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 labour (no mortar, dry-stack)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11–13×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2179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&amp; CO₂ than fired clay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 is not magic. </a:t>
            </a:r>
            <a:pPr indent="0" marL="0">
              <a:buNone/>
            </a:pPr>
            <a:r>
              <a:rPr lang="en-US" sz="15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real limits — water, height, curing time. We cover those too.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Auroville Earth Institute; Brick&amp;Bolt; IIT Kanpur NICEE; CivilTutorials. Full citations on final slide.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Soil, a little cement, and a clever shape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603504" cy="603504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618" y="2037466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soil + 5–8% cement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Sieved soil mixed with a little cement and water — no firing, no kiln.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47872" y="1874520"/>
            <a:ext cx="603504" cy="603504"/>
          </a:xfrm>
          <a:prstGeom prst="ellipse">
            <a:avLst/>
          </a:prstGeom>
          <a:solidFill>
            <a:srgbClr val="B8504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18" y="2037466"/>
            <a:ext cx="277612" cy="2776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Pressed, not burnt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204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in a hydraulic press, then cured for ~28 days to full strength.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91072" y="1874520"/>
            <a:ext cx="603504" cy="603504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018" y="2037466"/>
            <a:ext cx="277612" cy="2776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Interlocking shape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636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Tongue-and-groove edges lock together — stacked dry, with little or no mortar.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Auroville Earth Institute (earth-auroville.com); IIT Kanpur NICEE. Governed in India by BIS IS 1725.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C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real advantages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67789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Cheaper walls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173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15–35% lower wall cost than fired brick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967789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605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build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605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Mortarless stacking cuts laying time 20–30%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67789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plaster, no paint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9037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exposed faces — skip plaster &amp; paint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3385109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Cooler inside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4173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walls stay cooler — ideal for hot Telangana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918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930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141" y="3385109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605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carbon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1605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11–13× less energy &amp; CO₂ than fired clay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362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341" y="3385109"/>
            <a:ext cx="252374" cy="25237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Quake-friendly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9037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interlocking walls flex, don't shatter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Brick&amp;Bolt; CivilTutorials; Auroville Earth Institute; IIT Kanpur NICEE (seismic).</a:t>
            </a:r>
            <a:endParaRPr lang="en-US" sz="800" dirty="0"/>
          </a:p>
        </p:txBody>
      </p:sp>
      <p:sp>
        <p:nvSpPr>
          <p:cNvPr id="35" name="Text 2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money is saved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plaster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108960" y="1655064"/>
            <a:ext cx="4206240" cy="45720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3246120" y="165506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25–35%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wall cost — exposed finish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Little/no mortar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08960" y="2313432"/>
            <a:ext cx="3291840" cy="457200"/>
          </a:xfrm>
          <a:prstGeom prst="roundRect">
            <a:avLst>
              <a:gd name="adj" fmla="val 10000"/>
            </a:avLst>
          </a:prstGeom>
          <a:solidFill>
            <a:srgbClr val="5C8A5A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34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 on mortar &amp; plaster materials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9169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Dry-stack labour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108960" y="29718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80%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laying labour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57530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108960" y="3630168"/>
            <a:ext cx="2926080" cy="457200"/>
          </a:xfrm>
          <a:prstGeom prst="roundRect">
            <a:avLst>
              <a:gd name="adj" fmla="val 10000"/>
            </a:avLst>
          </a:prstGeom>
          <a:solidFill>
            <a:srgbClr val="5C8A5A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construction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32281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343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result:  </a:t>
            </a:r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CSEB wall runs 15–20% cheaper than fired brick (up to ~40% in some studies).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 (plaster −25–35%); CivilTutorials (mortar −20%, time −20–30%); IIT Kanpur (labour −80%); Auroville/Happho (15–40% cheaper).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we build a house in 1 week?”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myth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“Just stack the blocks — a whole house goes up in 7 days, start to finish.”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383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house. Foundation, roof, plumbing and wiring still take their normal time.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26201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9377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Walls go up in days.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Mortarless stacking cuts laying labour ~80% and time 20–30%.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blocks must cure ~28 days first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done at the factory, so pre-cured blocks let the site shell finish in about a week.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IIT Kanpur NICEE (labour −80%); CivilTutorials (time −20–30%); Auroville Earth Institute (28-day curing).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plastering and no painting?”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EEF4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Mostly TRUE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Plaster is optional, inside and out.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faces = exposed-brick look (a design trend). Saves 25–35% of wall cost. No mortar means no plaster base — and the natural earth tone needs no paint.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3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caveats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9377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joints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gaps invite ants/insects.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exposed faces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heavy rain — earth blocks lose 40–60% strength when soaked.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47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news: 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semi-arid Telangana is a strong fit for exposed finish.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 (plaster optional, −25–35%, rain caveat); NCBI/PMC (saturated strength loss 42–62%).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77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lowest-carbon brick you can buy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4150" y="213878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11×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to make than a fired-clay brick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245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350" y="213878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918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endParaRPr lang="en-US" sz="3800" dirty="0"/>
          </a:p>
        </p:txBody>
      </p:sp>
      <p:sp>
        <p:nvSpPr>
          <p:cNvPr id="13" name="Text 9"/>
          <p:cNvSpPr/>
          <p:nvPr/>
        </p:nvSpPr>
        <p:spPr>
          <a:xfrm>
            <a:off x="34747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CO₂ pollution than a fired-clay brick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677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550" y="2138782"/>
            <a:ext cx="294437" cy="29443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350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~95%</a:t>
            </a:r>
            <a:endParaRPr lang="en-US" sz="3800" dirty="0"/>
          </a:p>
        </p:txBody>
      </p:sp>
      <p:sp>
        <p:nvSpPr>
          <p:cNvPr id="18" name="Text 13"/>
          <p:cNvSpPr/>
          <p:nvPr/>
        </p:nvSpPr>
        <p:spPr>
          <a:xfrm>
            <a:off x="62179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soil — barely any transport or mining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kiln means no coal, no fired-brick smoke — the single biggest pollution source in Indian brick-making.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Auroville Earth Institute (11× energy, 13× CO₂); IIT Kanpur NICEE (1/5–1/15 manufacturing energy).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67789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when wet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Loses 40–60% strength soaked — needs sealing &amp; good roof overhangs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32918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967789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605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Low-rise only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1605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strength than concrete block — best for G+1 / G+2 homes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67789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28-day cure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9037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must cure ~4 weeks before use — plan factory stock ahead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3385109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Soil-dependent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173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right soil; cement % (5–10%) tuned to each soil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32918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930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141" y="3385109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605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1605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“Mud = poor” stigma — needs education &amp; show-homes to sell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362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341" y="3385109"/>
            <a:ext cx="252374" cy="25237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69037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varies with press &amp; curing discipline — BIS IS 1725 testing a must</a:t>
            </a:r>
            <a:endParaRPr lang="en-US" sz="980" dirty="0"/>
          </a:p>
        </p:txBody>
      </p:sp>
      <p:sp>
        <p:nvSpPr>
          <p:cNvPr id="34" name="Text 2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NCBI/PMC (saturated strength); IIT Kanpur (strength vs concrete); Auroville &amp; block-machine.net (28-day cure); ScienceDirect (soil/cement).</a:t>
            </a:r>
            <a:endParaRPr lang="en-US" sz="800" dirty="0"/>
          </a:p>
        </p:txBody>
      </p:sp>
      <p:sp>
        <p:nvSpPr>
          <p:cNvPr id="35" name="Text 2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 interlocking vs the alternatives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31720"/>
                <a:gridCol w="2080260"/>
                <a:gridCol w="20802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Mud Interlocking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Fired Clay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3D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Fly Ash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6E6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Price / unit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₹25–52 / block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₹8–12 / brick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₹5–8 / brick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Mortar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Little / none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Plaster + paint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Optional (skip it)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Laying speed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Fast — dry stack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Slow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Slow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Strength (MPa)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3–7.8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3–10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3–10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Energy / CO₂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Very 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High (kiln)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Medium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Water resistance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Needs sealing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Good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Good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Best for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Low-rise, dry, green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All-round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Bulk / cheap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CivilTutorials &amp; IndiaMart (price); IIT Kanpur &amp; block-machine.net (strength); Auroville (energy); Brick&amp;Bolt (finish).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it — and when not 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EF4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for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Low-rise homes (G+1, G+2)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dry climates — like Telangana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/ natural-finish design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Green-rated &amp; cost-led projects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good local soil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twice for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83480" y="246888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High-rise / heavy load buildings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Flood-prone or very wet regions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Unprotected walls with no roof overhang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poor or sandy-only soil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who reject the look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is semi-arid and low-rise-dominated — a strong natural fit for mud interlocking brick.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claim, traceable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563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Auroville Earth Institute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earth-auroville.com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1837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15–20% lower; 11× energy, 13× CO₂; 28-day curing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8" name="Text 6"/>
          <p:cNvSpPr/>
          <p:nvPr/>
        </p:nvSpPr>
        <p:spPr>
          <a:xfrm>
            <a:off x="4828032" y="1563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Kanpur — NICEE (WCEE 2012)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iitk.ac.in/nicee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28032" y="1837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−80%; strength 7.76 MPa; 1/5–1/15 energy; seismic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13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Brick&amp;Bolt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bricknbolt.com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Plaster optional, wall −25–35%; exposed finish; rain caveat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2258568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313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CivilTutorials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civiltutorials.com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28032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₹25–40/block; time −20–30%; mortar/plaster −20%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008376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/ PMC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ncbi.nlm.nih.gov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strength loss 42–62%; 10% cement → 5.92 MPa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3008376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0" name="Text 18"/>
          <p:cNvSpPr/>
          <p:nvPr/>
        </p:nvSpPr>
        <p:spPr>
          <a:xfrm>
            <a:off x="4828032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Happho / Frontiers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happho.com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28032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~40% cheaper; 13% cheaper than RCC+brick apartment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758184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813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IndiaMart (market price)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indiamart.com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087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CSEB 300×150×90 mm ₹30/unit; interlocking ₹52/piece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3758184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6" name="Text 24"/>
          <p:cNvSpPr/>
          <p:nvPr/>
        </p:nvSpPr>
        <p:spPr>
          <a:xfrm>
            <a:off x="4828032" y="3813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IS 1725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bis.gov.in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8032" y="4087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standard for stabilised soil blocks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compiled June 2026 · figures are indicative ranges from public sources, not adversarially verified.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Mud Interlocking Brick — The Honest Comparison</dc:title>
  <dc:subject>PptxGenJS Presentation</dc:subject>
  <dc:creator>TerraBlock</dc:creator>
  <cp:lastModifiedBy>TerraBlock</cp:lastModifiedBy>
  <cp:revision>1</cp:revision>
  <dcterms:created xsi:type="dcterms:W3CDTF">2026-06-26T16:26:36Z</dcterms:created>
  <dcterms:modified xsi:type="dcterms:W3CDTF">2026-06-26T16:26:36Z</dcterms:modified>
</cp:coreProperties>
</file>