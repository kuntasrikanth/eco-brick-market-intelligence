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Composite score</c:v>
                </c:pt>
              </c:strCache>
            </c:strRef>
          </c:tx>
          <c:spPr>
            <a:solidFill>
              <a:srgbClr val="B85042"/>
            </a:solidFill>
            <a:effectLst/>
          </c:spPr>
          <c:invertIfNegative val="0"/>
          <c:dLbls>
            <c:numFmt formatCode="0.00" sourceLinked="0"/>
            <c:txPr>
              <a:bodyPr/>
              <a:lstStyle/>
              <a:p>
                <a:pPr>
                  <a:defRPr b="1" i="0" strike="noStrike" sz="1100" u="none">
                    <a:solidFill>
                      <a:srgbClr val="33291F"/>
                    </a:solidFill>
                    <a:latin typeface="Arial"/>
                  </a:defRPr>
                </a:pPr>
              </a:p>
            </c:txPr>
            <c:showLegendKey val="0"/>
            <c:showVal val="1"/>
            <c:showCatName val="0"/>
            <c:showSerName val="0"/>
            <c:showPercent val="0"/>
            <c:showBubbleSize val="0"/>
            <c:showLeaderLines val="0"/>
          </c:dLbls>
          <c:cat>
            <c:multiLvlStrRef>
              <c:f>Sheet1!$A$2:$A$7</c:f>
              <c:multiLvlStrCache>
                <c:ptCount val="6"/>
                <c:lvl>
                  <c:pt idx="0">
                    <c:v>Ranga Reddy</c:v>
                  </c:pt>
                  <c:pt idx="1">
                    <c:v>Kamareddy</c:v>
                  </c:pt>
                  <c:pt idx="2">
                    <c:v>Wanaparthy</c:v>
                  </c:pt>
                  <c:pt idx="3">
                    <c:v>Sangareddy</c:v>
                  </c:pt>
                  <c:pt idx="4">
                    <c:v>Jagtial</c:v>
                  </c:pt>
                  <c:pt idx="5">
                    <c:v>Nizamabad</c:v>
                  </c:pt>
                </c:lvl>
              </c:multiLvlStrCache>
            </c:multiLvlStrRef>
          </c:cat>
          <c:val>
            <c:numRef>
              <c:f>Sheet1!$B$2:$B$7</c:f>
              <c:numCache>
                <c:formatCode>General</c:formatCode>
                <c:ptCount val="6"/>
                <c:pt idx="0">
                  <c:v>0.797</c:v>
                </c:pt>
                <c:pt idx="1">
                  <c:v>0.71</c:v>
                </c:pt>
                <c:pt idx="2">
                  <c:v>0.687</c:v>
                </c:pt>
                <c:pt idx="3">
                  <c:v>0.611</c:v>
                </c:pt>
                <c:pt idx="4">
                  <c:v>0.608</c:v>
                </c:pt>
                <c:pt idx="5">
                  <c:v>0.602</c:v>
                </c:pt>
              </c:numCache>
            </c:numRef>
          </c:val>
        </c:ser>
        <c:dLbls>
          <c:numFmt formatCode="0.00" sourceLinked="0"/>
          <c:txPr>
            <a:bodyPr/>
            <a:lstStyle/>
            <a:p>
              <a:pPr>
                <a:defRPr b="1" i="0" strike="noStrike" sz="1100" u="none">
                  <a:solidFill>
                    <a:srgbClr val="33291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493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 lakh)</c:v>
                </c:pt>
              </c:strCache>
            </c:strRef>
          </c:tx>
          <c:spPr>
            <a:solidFill>
              <a:srgbClr val="B85042"/>
            </a:solidFill>
            <a:effectLst/>
          </c:spPr>
          <c:invertIfNegative val="0"/>
          <c:dLbls>
            <c:numFmt formatCode="#,##0" sourceLinked="0"/>
            <c:txPr>
              <a:bodyPr/>
              <a:lstStyle/>
              <a:p>
                <a:pPr>
                  <a:defRPr b="1" i="0" strike="noStrike" sz="1000" u="none">
                    <a:solidFill>
                      <a:srgbClr val="33291F"/>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48</c:v>
                </c:pt>
                <c:pt idx="1">
                  <c:v>147</c:v>
                </c:pt>
                <c:pt idx="2">
                  <c:v>293</c:v>
                </c:pt>
              </c:numCache>
            </c:numRef>
          </c:val>
        </c:ser>
        <c:ser>
          <c:idx val="1"/>
          <c:order val="1"/>
          <c:tx>
            <c:strRef>
              <c:f>Sheet1!$C$1</c:f>
              <c:strCache>
                <c:ptCount val="1"/>
                <c:pt idx="0">
                  <c:v>Net profit (₹ lakh)</c:v>
                </c:pt>
              </c:strCache>
            </c:strRef>
          </c:tx>
          <c:spPr>
            <a:solidFill>
              <a:srgbClr val="5C8A5A"/>
            </a:solidFill>
            <a:effectLst/>
          </c:spPr>
          <c:invertIfNegative val="0"/>
          <c:dLbls>
            <c:numFmt formatCode="#,##0" sourceLinked="0"/>
            <c:txPr>
              <a:bodyPr/>
              <a:lstStyle/>
              <a:p>
                <a:pPr>
                  <a:defRPr b="1" i="0" strike="noStrike" sz="1000" u="none">
                    <a:solidFill>
                      <a:srgbClr val="33291F"/>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-4</c:v>
                </c:pt>
                <c:pt idx="1">
                  <c:v>31</c:v>
                </c:pt>
                <c:pt idx="2">
                  <c:v>75</c:v>
                </c:pt>
              </c:numCache>
            </c:numRef>
          </c:val>
        </c:ser>
        <c:dLbls>
          <c:numFmt formatCode="#,##0" sourceLinked="0"/>
          <c:txPr>
            <a:bodyPr/>
            <a:lstStyle/>
            <a:p>
              <a:pPr>
                <a:defRPr b="1" i="0" strike="noStrike" sz="1000" u="none">
                  <a:solidFill>
                    <a:srgbClr val="33291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49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5493D"/>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all for your time. I am the founder of TerraBlock. In the next ten minutes, I will show you a clear gap in the Telangana construction market that nobody is serving today — and how we plan to fill it with a brick that is cheaper to make, greener, and faster to build with. Just one request — please hold your questions till the end, and I will be very happy to take all of them. Let us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start with an idea — we started with data. We surveyed every single brick factory in Telangana. All 355 of them, across 31 districts. And see what we found. More than half are still hand-made — no machines, no modernisation at all. And the most important number — zero. Not one factory makes machine-made mud interlocking bricks. So please understand, this is not a demand problem. The demand is very much there. It is simply an empty shelf, waiting for someone to stock it. That someone is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builder in Telangana is facing three problems today. Number one — skilled labour is very hard to get. The country is short of nearly two million skilled workers, and mason wages have gone up 8 to 12 per cent in just one year. Number two — fly ash brick supply is unreliable, because it depends fully on the power plants. When the plant slows down, your supply stops, and your project gets stuck. Number three — there is no certified eco-brick available locally, so green-rated projects simply cannot source one here. Now keep these three problems in mind, because our product solves all three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are we making? It is called a Compressed Stabilised Earth Block, or CSEB. The idea is simple but powerful. We take local soil, mix just 5 to 8 per cent cement into it, and press it under very high pressure in a machine. No kiln. No firing. The block is cured, not burnt — so we save a huge amount of energy. And the edges interlock, like Lego, so the builder needs very little mortar. Please look at the comparison table on the right. On every single point — raw material, energy, carbon, cost to the builder — mud beats fly ash. And the bottom line — in Telangana, we are the only ones making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may ask — why now? Why is this the right time? Because three big forces are coming together at the same moment. First, green building is booming — it is already a 15.5 billion dollar market, growing to 32 billion by 2032. And here is a lovely point — IGBC, the Indian Green Building Council, is headquartered right here in Hyderabad, in our own backyard. Second, the labour shortage I just mentioned — builders are now actively looking for products that reduce work at the site. Third, the government itself is building — one crore homes under PMAY by 2029. So that is a full decade of guaranteed demand. The timing is just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now put the market size in proper perspective. The total brick market in Telangana is around 2,800 crore rupees every year. Now, we are not chasing the whole state. Our serviceable area — Ranga Reddy plus four neighbouring districts — is 840 crore. And our target for Year 3 is only 2.9 crore. Just look at that ratio — it is roughly one-third of one per cent of our serviceable market. I say this very honestly to every investor — we do not need to win this market. We only need a tiny sliver of it to build a very profitable company. And for context, remember, India makes 150 billion bricks a year. This is an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where will we build the factory? We did not just pick a place by gut feeling. We built a proper scoring model with seven factors — demand, competition, modernisation gap, eco gap, stability, raw material access — and we ran all 31 districts of Telangana through it. And Ranga Reddy came out as number one, very clearly. Why? 13.4 lakh households — the largest base in the whole state. Only six factories serving all of them — badly under-supplied. Hyderabad is right on the doorstep, where 30 per cent of the state's construction is happening. And from there, by NH-44 and 65, we can reach any district within two hours. So this location decision is fully data-backed.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talk about competition honestly. On the left, you see what the 355 factories actually make — 198 hand-made, 76 semi-automatic, 64 fully-automatic. All of them fly ash or clay. Mud interlocking? Zero. Now, a smart investor will ask — if it is such a good idea, what stops someone from copying you tomorrow? Fair question. Look at the right side. Certification — BIS and IGBC — takes 9 to 12 months to earn. The soil-mix know-how is proprietary and changes from site to site. Builder relationships, once we are specified in their drawings, get locked in. And only 13 per cent of our rivals even have a website. So realistically, we will enjoy an 18-month head start,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is my favourite slide — the economics. Because our main raw material is soil, which is practically free, the margin sits right inside the block. We sell at 28 rupees. Our total cost is around 15 rupees. That gives us a 46 per cent gross margin per block. And notice one very important thing — the market price today is 30 to 50 rupees. So we are entering below the market price and still making excellent margins. There is plenty of room. One last point I always make to builders — please do not look at the block price alone. Yes, our block costs a little more than a basic brick, but it cuts your mortar, your plastering, and your labour, and it builds much faster. It is a premium green product, and for the right project, that premium pays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financial projections. And I want to be very honest with you — these are conservative estimates, and we will validate them once the soil test and machine quotes are done. So please take them in that spirit. In Year 1, we ramp up and take a small loss of about 6 lakh — this is fully expected for any manufacturing setup. In Year 2, we turn profitable — 38 lakh profit on 168 lakh revenue. By Year 3, 72 lakh profit. We reach cash break-even by Month 16, and the full payback on investment comes in about three and a half years. Steady, realistic, and not over-promised.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coming to the ask. We are raising 75 lakh rupees — that is roughly 71,000 pounds for our overseas friends. And I will show you exactly where every rupee goes. The biggest piece is machinery — 32 lakh for two presses. Then working capital for six months, factory construction, the land lease deposit, and certification. Nothing vague, everything accounted for. And we are flexible on the structure. For an equity investor, we are offering 20 per cent for 40 to 50 lakh. Or, if you prefer a smaller exposure, we can take a 35 lakh MSME loan against the plant and you come in lighter. Whatever suits you best, we can work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plan for the next 24 months, so you can see we have thought it through step by step. First half of 2026 — company registration, soil test, land, and machine order. By the third quarter, our first brick rolls out, along with BIS testing and the first pilot customers. Fourth quarter — full sales launch, and we go digital with Google and WhatsApp. By early 2027, we hit break-even and get our IGBC certification. And in the second half of 2027, we open our second plant in Kamareddy, which was the number two district in our model, taking us to a 1.5 crore run-rate. Clear milestones, clear timeline, no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should you back us specifically? Four reasons. One — we are the first mover. The only CSEB producer in a market of 355 factories. Two — we are data-driven. You have seen our location model; we do not work on hunches. Three — we have a certification moat. BIS and IGBC will unlock government and green-rated projects that our rivals simply cannot bid for. And four — we are building soil IP. A database of mix ratios for every site, which gets better and more valuable with every single batch we produce. First mover, data, certification, and IP — that is a strong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one simple picture. An empty shelf. A demand that is documented, not assumed. And a product that this market has never even been offered before. That combination does not come often. We would be truly delighted to have you build this with us, right from the ground floor. Thank you so much for your time and patience — and now I will be very happy to take all your questions. (Pause. Smile.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019"/>
        </a:solidFill>
      </p:bgPr>
    </p:bg>
    <p:spTree>
      <p:nvGrpSpPr>
        <p:cNvPr id="1" name=""/>
        <p:cNvGrpSpPr/>
        <p:nvPr/>
      </p:nvGrpSpPr>
      <p:grpSpPr>
        <a:xfrm>
          <a:off x="0" y="0"/>
          <a:ext cx="0" cy="0"/>
          <a:chOff x="0" y="0"/>
          <a:chExt cx="0" cy="0"/>
        </a:xfrm>
      </p:grpSpPr>
      <p:sp>
        <p:nvSpPr>
          <p:cNvPr id="2" name="Shape 0"/>
          <p:cNvSpPr/>
          <p:nvPr/>
        </p:nvSpPr>
        <p:spPr>
          <a:xfrm>
            <a:off x="5989320" y="3429000"/>
            <a:ext cx="493776" cy="310896"/>
          </a:xfrm>
          <a:prstGeom prst="rect">
            <a:avLst/>
          </a:prstGeom>
          <a:solidFill>
            <a:srgbClr val="32281E"/>
          </a:solidFill>
          <a:ln w="6350">
            <a:solidFill>
              <a:srgbClr val="3D3024"/>
            </a:solidFill>
            <a:prstDash val="solid"/>
          </a:ln>
        </p:spPr>
      </p:sp>
      <p:sp>
        <p:nvSpPr>
          <p:cNvPr id="3" name="Shape 1"/>
          <p:cNvSpPr/>
          <p:nvPr/>
        </p:nvSpPr>
        <p:spPr>
          <a:xfrm>
            <a:off x="6556248" y="3429000"/>
            <a:ext cx="493776" cy="310896"/>
          </a:xfrm>
          <a:prstGeom prst="rect">
            <a:avLst/>
          </a:prstGeom>
          <a:solidFill>
            <a:srgbClr val="32281E"/>
          </a:solidFill>
          <a:ln w="6350">
            <a:solidFill>
              <a:srgbClr val="3D3024"/>
            </a:solidFill>
            <a:prstDash val="solid"/>
          </a:ln>
        </p:spPr>
      </p:sp>
      <p:sp>
        <p:nvSpPr>
          <p:cNvPr id="4" name="Shape 2"/>
          <p:cNvSpPr/>
          <p:nvPr/>
        </p:nvSpPr>
        <p:spPr>
          <a:xfrm>
            <a:off x="7123176" y="3429000"/>
            <a:ext cx="493776" cy="310896"/>
          </a:xfrm>
          <a:prstGeom prst="rect">
            <a:avLst/>
          </a:prstGeom>
          <a:solidFill>
            <a:srgbClr val="32281E"/>
          </a:solidFill>
          <a:ln w="6350">
            <a:solidFill>
              <a:srgbClr val="3D3024"/>
            </a:solidFill>
            <a:prstDash val="solid"/>
          </a:ln>
        </p:spPr>
      </p:sp>
      <p:sp>
        <p:nvSpPr>
          <p:cNvPr id="5" name="Shape 3"/>
          <p:cNvSpPr/>
          <p:nvPr/>
        </p:nvSpPr>
        <p:spPr>
          <a:xfrm>
            <a:off x="7690104" y="3429000"/>
            <a:ext cx="493776" cy="310896"/>
          </a:xfrm>
          <a:prstGeom prst="rect">
            <a:avLst/>
          </a:prstGeom>
          <a:solidFill>
            <a:srgbClr val="32281E"/>
          </a:solidFill>
          <a:ln w="6350">
            <a:solidFill>
              <a:srgbClr val="3D3024"/>
            </a:solidFill>
            <a:prstDash val="solid"/>
          </a:ln>
        </p:spPr>
      </p:sp>
      <p:sp>
        <p:nvSpPr>
          <p:cNvPr id="6" name="Shape 4"/>
          <p:cNvSpPr/>
          <p:nvPr/>
        </p:nvSpPr>
        <p:spPr>
          <a:xfrm>
            <a:off x="8257032" y="3429000"/>
            <a:ext cx="493776" cy="310896"/>
          </a:xfrm>
          <a:prstGeom prst="rect">
            <a:avLst/>
          </a:prstGeom>
          <a:solidFill>
            <a:srgbClr val="32281E"/>
          </a:solidFill>
          <a:ln w="6350">
            <a:solidFill>
              <a:srgbClr val="3D3024"/>
            </a:solidFill>
            <a:prstDash val="solid"/>
          </a:ln>
        </p:spPr>
      </p:sp>
      <p:sp>
        <p:nvSpPr>
          <p:cNvPr id="7" name="Shape 5"/>
          <p:cNvSpPr/>
          <p:nvPr/>
        </p:nvSpPr>
        <p:spPr>
          <a:xfrm>
            <a:off x="8823960" y="3429000"/>
            <a:ext cx="493776" cy="310896"/>
          </a:xfrm>
          <a:prstGeom prst="rect">
            <a:avLst/>
          </a:prstGeom>
          <a:solidFill>
            <a:srgbClr val="32281E"/>
          </a:solidFill>
          <a:ln w="6350">
            <a:solidFill>
              <a:srgbClr val="3D3024"/>
            </a:solidFill>
            <a:prstDash val="solid"/>
          </a:ln>
        </p:spPr>
      </p:sp>
      <p:sp>
        <p:nvSpPr>
          <p:cNvPr id="8" name="Shape 6"/>
          <p:cNvSpPr/>
          <p:nvPr/>
        </p:nvSpPr>
        <p:spPr>
          <a:xfrm>
            <a:off x="6272784" y="3813048"/>
            <a:ext cx="493776" cy="310896"/>
          </a:xfrm>
          <a:prstGeom prst="rect">
            <a:avLst/>
          </a:prstGeom>
          <a:solidFill>
            <a:srgbClr val="32281E"/>
          </a:solidFill>
          <a:ln w="6350">
            <a:solidFill>
              <a:srgbClr val="3D3024"/>
            </a:solidFill>
            <a:prstDash val="solid"/>
          </a:ln>
        </p:spPr>
      </p:sp>
      <p:sp>
        <p:nvSpPr>
          <p:cNvPr id="9" name="Shape 7"/>
          <p:cNvSpPr/>
          <p:nvPr/>
        </p:nvSpPr>
        <p:spPr>
          <a:xfrm>
            <a:off x="6839712" y="3813048"/>
            <a:ext cx="493776" cy="310896"/>
          </a:xfrm>
          <a:prstGeom prst="rect">
            <a:avLst/>
          </a:prstGeom>
          <a:solidFill>
            <a:srgbClr val="32281E"/>
          </a:solidFill>
          <a:ln w="6350">
            <a:solidFill>
              <a:srgbClr val="3D3024"/>
            </a:solidFill>
            <a:prstDash val="solid"/>
          </a:ln>
        </p:spPr>
      </p:sp>
      <p:sp>
        <p:nvSpPr>
          <p:cNvPr id="10" name="Shape 8"/>
          <p:cNvSpPr/>
          <p:nvPr/>
        </p:nvSpPr>
        <p:spPr>
          <a:xfrm>
            <a:off x="7406640" y="3813048"/>
            <a:ext cx="493776" cy="310896"/>
          </a:xfrm>
          <a:prstGeom prst="rect">
            <a:avLst/>
          </a:prstGeom>
          <a:solidFill>
            <a:srgbClr val="B85042"/>
          </a:solidFill>
          <a:ln w="6350">
            <a:solidFill>
              <a:srgbClr val="3D3024"/>
            </a:solidFill>
            <a:prstDash val="solid"/>
          </a:ln>
        </p:spPr>
      </p:sp>
      <p:sp>
        <p:nvSpPr>
          <p:cNvPr id="11" name="Shape 9"/>
          <p:cNvSpPr/>
          <p:nvPr/>
        </p:nvSpPr>
        <p:spPr>
          <a:xfrm>
            <a:off x="7973568" y="3813048"/>
            <a:ext cx="493776" cy="310896"/>
          </a:xfrm>
          <a:prstGeom prst="rect">
            <a:avLst/>
          </a:prstGeom>
          <a:solidFill>
            <a:srgbClr val="32281E"/>
          </a:solidFill>
          <a:ln w="6350">
            <a:solidFill>
              <a:srgbClr val="3D3024"/>
            </a:solidFill>
            <a:prstDash val="solid"/>
          </a:ln>
        </p:spPr>
      </p:sp>
      <p:sp>
        <p:nvSpPr>
          <p:cNvPr id="12" name="Shape 10"/>
          <p:cNvSpPr/>
          <p:nvPr/>
        </p:nvSpPr>
        <p:spPr>
          <a:xfrm>
            <a:off x="8540496" y="3813048"/>
            <a:ext cx="493776" cy="310896"/>
          </a:xfrm>
          <a:prstGeom prst="rect">
            <a:avLst/>
          </a:prstGeom>
          <a:solidFill>
            <a:srgbClr val="32281E"/>
          </a:solidFill>
          <a:ln w="6350">
            <a:solidFill>
              <a:srgbClr val="3D3024"/>
            </a:solidFill>
            <a:prstDash val="solid"/>
          </a:ln>
        </p:spPr>
      </p:sp>
      <p:sp>
        <p:nvSpPr>
          <p:cNvPr id="13" name="Shape 11"/>
          <p:cNvSpPr/>
          <p:nvPr/>
        </p:nvSpPr>
        <p:spPr>
          <a:xfrm>
            <a:off x="9107424" y="3813048"/>
            <a:ext cx="493776" cy="310896"/>
          </a:xfrm>
          <a:prstGeom prst="rect">
            <a:avLst/>
          </a:prstGeom>
          <a:solidFill>
            <a:srgbClr val="32281E"/>
          </a:solidFill>
          <a:ln w="6350">
            <a:solidFill>
              <a:srgbClr val="3D3024"/>
            </a:solidFill>
            <a:prstDash val="solid"/>
          </a:ln>
        </p:spPr>
      </p:sp>
      <p:sp>
        <p:nvSpPr>
          <p:cNvPr id="14" name="Shape 12"/>
          <p:cNvSpPr/>
          <p:nvPr/>
        </p:nvSpPr>
        <p:spPr>
          <a:xfrm>
            <a:off x="5989320" y="4197096"/>
            <a:ext cx="493776" cy="310896"/>
          </a:xfrm>
          <a:prstGeom prst="rect">
            <a:avLst/>
          </a:prstGeom>
          <a:solidFill>
            <a:srgbClr val="32281E"/>
          </a:solidFill>
          <a:ln w="6350">
            <a:solidFill>
              <a:srgbClr val="3D3024"/>
            </a:solidFill>
            <a:prstDash val="solid"/>
          </a:ln>
        </p:spPr>
      </p:sp>
      <p:sp>
        <p:nvSpPr>
          <p:cNvPr id="15" name="Shape 13"/>
          <p:cNvSpPr/>
          <p:nvPr/>
        </p:nvSpPr>
        <p:spPr>
          <a:xfrm>
            <a:off x="6556248" y="4197096"/>
            <a:ext cx="493776" cy="310896"/>
          </a:xfrm>
          <a:prstGeom prst="rect">
            <a:avLst/>
          </a:prstGeom>
          <a:solidFill>
            <a:srgbClr val="32281E"/>
          </a:solidFill>
          <a:ln w="6350">
            <a:solidFill>
              <a:srgbClr val="3D3024"/>
            </a:solidFill>
            <a:prstDash val="solid"/>
          </a:ln>
        </p:spPr>
      </p:sp>
      <p:sp>
        <p:nvSpPr>
          <p:cNvPr id="16" name="Shape 14"/>
          <p:cNvSpPr/>
          <p:nvPr/>
        </p:nvSpPr>
        <p:spPr>
          <a:xfrm>
            <a:off x="7123176" y="4197096"/>
            <a:ext cx="493776" cy="310896"/>
          </a:xfrm>
          <a:prstGeom prst="rect">
            <a:avLst/>
          </a:prstGeom>
          <a:solidFill>
            <a:srgbClr val="32281E"/>
          </a:solidFill>
          <a:ln w="6350">
            <a:solidFill>
              <a:srgbClr val="3D3024"/>
            </a:solidFill>
            <a:prstDash val="solid"/>
          </a:ln>
        </p:spPr>
      </p:sp>
      <p:sp>
        <p:nvSpPr>
          <p:cNvPr id="17" name="Shape 15"/>
          <p:cNvSpPr/>
          <p:nvPr/>
        </p:nvSpPr>
        <p:spPr>
          <a:xfrm>
            <a:off x="7690104" y="4197096"/>
            <a:ext cx="493776" cy="310896"/>
          </a:xfrm>
          <a:prstGeom prst="rect">
            <a:avLst/>
          </a:prstGeom>
          <a:solidFill>
            <a:srgbClr val="32281E"/>
          </a:solidFill>
          <a:ln w="6350">
            <a:solidFill>
              <a:srgbClr val="3D3024"/>
            </a:solidFill>
            <a:prstDash val="solid"/>
          </a:ln>
        </p:spPr>
      </p:sp>
      <p:sp>
        <p:nvSpPr>
          <p:cNvPr id="18" name="Shape 16"/>
          <p:cNvSpPr/>
          <p:nvPr/>
        </p:nvSpPr>
        <p:spPr>
          <a:xfrm>
            <a:off x="8257032" y="4197096"/>
            <a:ext cx="493776" cy="310896"/>
          </a:xfrm>
          <a:prstGeom prst="rect">
            <a:avLst/>
          </a:prstGeom>
          <a:solidFill>
            <a:srgbClr val="32281E"/>
          </a:solidFill>
          <a:ln w="6350">
            <a:solidFill>
              <a:srgbClr val="3D3024"/>
            </a:solidFill>
            <a:prstDash val="solid"/>
          </a:ln>
        </p:spPr>
      </p:sp>
      <p:sp>
        <p:nvSpPr>
          <p:cNvPr id="19" name="Shape 17"/>
          <p:cNvSpPr/>
          <p:nvPr/>
        </p:nvSpPr>
        <p:spPr>
          <a:xfrm>
            <a:off x="8823960" y="4197096"/>
            <a:ext cx="493776" cy="310896"/>
          </a:xfrm>
          <a:prstGeom prst="rect">
            <a:avLst/>
          </a:prstGeom>
          <a:solidFill>
            <a:srgbClr val="32281E"/>
          </a:solidFill>
          <a:ln w="6350">
            <a:solidFill>
              <a:srgbClr val="3D3024"/>
            </a:solidFill>
            <a:prstDash val="solid"/>
          </a:ln>
        </p:spPr>
      </p:sp>
      <p:sp>
        <p:nvSpPr>
          <p:cNvPr id="20" name="Shape 18"/>
          <p:cNvSpPr/>
          <p:nvPr/>
        </p:nvSpPr>
        <p:spPr>
          <a:xfrm>
            <a:off x="6272784" y="4581144"/>
            <a:ext cx="493776" cy="310896"/>
          </a:xfrm>
          <a:prstGeom prst="rect">
            <a:avLst/>
          </a:prstGeom>
          <a:solidFill>
            <a:srgbClr val="32281E"/>
          </a:solidFill>
          <a:ln w="6350">
            <a:solidFill>
              <a:srgbClr val="3D3024"/>
            </a:solidFill>
            <a:prstDash val="solid"/>
          </a:ln>
        </p:spPr>
      </p:sp>
      <p:sp>
        <p:nvSpPr>
          <p:cNvPr id="21" name="Shape 19"/>
          <p:cNvSpPr/>
          <p:nvPr/>
        </p:nvSpPr>
        <p:spPr>
          <a:xfrm>
            <a:off x="6839712" y="4581144"/>
            <a:ext cx="493776" cy="310896"/>
          </a:xfrm>
          <a:prstGeom prst="rect">
            <a:avLst/>
          </a:prstGeom>
          <a:solidFill>
            <a:srgbClr val="32281E"/>
          </a:solidFill>
          <a:ln w="6350">
            <a:solidFill>
              <a:srgbClr val="3D3024"/>
            </a:solidFill>
            <a:prstDash val="solid"/>
          </a:ln>
        </p:spPr>
      </p:sp>
      <p:sp>
        <p:nvSpPr>
          <p:cNvPr id="22" name="Shape 20"/>
          <p:cNvSpPr/>
          <p:nvPr/>
        </p:nvSpPr>
        <p:spPr>
          <a:xfrm>
            <a:off x="7406640" y="4581144"/>
            <a:ext cx="493776" cy="310896"/>
          </a:xfrm>
          <a:prstGeom prst="rect">
            <a:avLst/>
          </a:prstGeom>
          <a:solidFill>
            <a:srgbClr val="32281E"/>
          </a:solidFill>
          <a:ln w="6350">
            <a:solidFill>
              <a:srgbClr val="3D3024"/>
            </a:solidFill>
            <a:prstDash val="solid"/>
          </a:ln>
        </p:spPr>
      </p:sp>
      <p:sp>
        <p:nvSpPr>
          <p:cNvPr id="23" name="Shape 21"/>
          <p:cNvSpPr/>
          <p:nvPr/>
        </p:nvSpPr>
        <p:spPr>
          <a:xfrm>
            <a:off x="7973568" y="4581144"/>
            <a:ext cx="493776" cy="310896"/>
          </a:xfrm>
          <a:prstGeom prst="rect">
            <a:avLst/>
          </a:prstGeom>
          <a:solidFill>
            <a:srgbClr val="32281E"/>
          </a:solidFill>
          <a:ln w="6350">
            <a:solidFill>
              <a:srgbClr val="3D3024"/>
            </a:solidFill>
            <a:prstDash val="solid"/>
          </a:ln>
        </p:spPr>
      </p:sp>
      <p:sp>
        <p:nvSpPr>
          <p:cNvPr id="24" name="Shape 22"/>
          <p:cNvSpPr/>
          <p:nvPr/>
        </p:nvSpPr>
        <p:spPr>
          <a:xfrm>
            <a:off x="8540496" y="4581144"/>
            <a:ext cx="493776" cy="310896"/>
          </a:xfrm>
          <a:prstGeom prst="rect">
            <a:avLst/>
          </a:prstGeom>
          <a:solidFill>
            <a:srgbClr val="32281E"/>
          </a:solidFill>
          <a:ln w="6350">
            <a:solidFill>
              <a:srgbClr val="3D3024"/>
            </a:solidFill>
            <a:prstDash val="solid"/>
          </a:ln>
        </p:spPr>
      </p:sp>
      <p:sp>
        <p:nvSpPr>
          <p:cNvPr id="25" name="Shape 23"/>
          <p:cNvSpPr/>
          <p:nvPr/>
        </p:nvSpPr>
        <p:spPr>
          <a:xfrm>
            <a:off x="9107424" y="4581144"/>
            <a:ext cx="493776" cy="310896"/>
          </a:xfrm>
          <a:prstGeom prst="rect">
            <a:avLst/>
          </a:prstGeom>
          <a:solidFill>
            <a:srgbClr val="32281E"/>
          </a:solidFill>
          <a:ln w="6350">
            <a:solidFill>
              <a:srgbClr val="3D3024"/>
            </a:solidFill>
            <a:prstDash val="solid"/>
          </a:ln>
        </p:spPr>
      </p:sp>
      <p:sp>
        <p:nvSpPr>
          <p:cNvPr id="26" name="Text 24"/>
          <p:cNvSpPr/>
          <p:nvPr/>
        </p:nvSpPr>
        <p:spPr>
          <a:xfrm>
            <a:off x="548640" y="1234440"/>
            <a:ext cx="7315200" cy="822960"/>
          </a:xfrm>
          <a:prstGeom prst="rect">
            <a:avLst/>
          </a:prstGeom>
          <a:noFill/>
          <a:ln/>
        </p:spPr>
        <p:txBody>
          <a:bodyPr wrap="square" lIns="0" tIns="0" rIns="0" bIns="0" rtlCol="0" anchor="ctr"/>
          <a:lstStyle/>
          <a:p>
            <a:pPr indent="0" marL="0">
              <a:buNone/>
            </a:pPr>
            <a:r>
              <a:rPr lang="en-US" sz="5400" b="1" spc="200" kern="0" dirty="0">
                <a:solidFill>
                  <a:srgbClr val="FFFFFF"/>
                </a:solidFill>
                <a:latin typeface="Cambria" pitchFamily="34" charset="0"/>
                <a:ea typeface="Cambria" pitchFamily="34" charset="-122"/>
                <a:cs typeface="Cambria" pitchFamily="34" charset="-120"/>
              </a:rPr>
              <a:t>TERRABLOCK</a:t>
            </a:r>
            <a:endParaRPr lang="en-US" sz="5400" dirty="0"/>
          </a:p>
        </p:txBody>
      </p:sp>
      <p:sp>
        <p:nvSpPr>
          <p:cNvPr id="27" name="Shape 25"/>
          <p:cNvSpPr/>
          <p:nvPr/>
        </p:nvSpPr>
        <p:spPr>
          <a:xfrm>
            <a:off x="566928" y="2121408"/>
            <a:ext cx="502920" cy="64008"/>
          </a:xfrm>
          <a:prstGeom prst="rect">
            <a:avLst/>
          </a:prstGeom>
          <a:solidFill>
            <a:srgbClr val="B85042"/>
          </a:solidFill>
          <a:ln/>
        </p:spPr>
      </p:sp>
      <p:sp>
        <p:nvSpPr>
          <p:cNvPr id="28" name="Text 26"/>
          <p:cNvSpPr/>
          <p:nvPr/>
        </p:nvSpPr>
        <p:spPr>
          <a:xfrm>
            <a:off x="548640" y="2286000"/>
            <a:ext cx="7863840" cy="457200"/>
          </a:xfrm>
          <a:prstGeom prst="rect">
            <a:avLst/>
          </a:prstGeom>
          <a:noFill/>
          <a:ln/>
        </p:spPr>
        <p:txBody>
          <a:bodyPr wrap="square" lIns="0" tIns="0" rIns="0" bIns="0" rtlCol="0" anchor="ctr"/>
          <a:lstStyle/>
          <a:p>
            <a:pPr indent="0" marL="0">
              <a:buNone/>
            </a:pPr>
            <a:r>
              <a:rPr lang="en-US" sz="2200" i="1" dirty="0">
                <a:solidFill>
                  <a:srgbClr val="EDE7D9"/>
                </a:solidFill>
                <a:latin typeface="Cambria" pitchFamily="34" charset="0"/>
                <a:ea typeface="Cambria" pitchFamily="34" charset="-122"/>
                <a:cs typeface="Cambria" pitchFamily="34" charset="-120"/>
              </a:rPr>
              <a:t>Telangana's first machine-made mud interlocking brick</a:t>
            </a:r>
            <a:endParaRPr lang="en-US" sz="2200" dirty="0"/>
          </a:p>
        </p:txBody>
      </p:sp>
      <p:sp>
        <p:nvSpPr>
          <p:cNvPr id="29" name="Text 27"/>
          <p:cNvSpPr/>
          <p:nvPr/>
        </p:nvSpPr>
        <p:spPr>
          <a:xfrm>
            <a:off x="566928" y="2880360"/>
            <a:ext cx="8229600" cy="365760"/>
          </a:xfrm>
          <a:prstGeom prst="rect">
            <a:avLst/>
          </a:prstGeom>
          <a:noFill/>
          <a:ln/>
        </p:spPr>
        <p:txBody>
          <a:bodyPr wrap="square" lIns="0" tIns="0" rIns="0" bIns="0" rtlCol="0" anchor="ctr"/>
          <a:lstStyle/>
          <a:p>
            <a:pPr indent="0" marL="0">
              <a:buNone/>
            </a:pPr>
            <a:r>
              <a:rPr lang="en-US" sz="1400" b="1" dirty="0">
                <a:solidFill>
                  <a:srgbClr val="D8A24A"/>
                </a:solidFill>
                <a:latin typeface="Calibri" pitchFamily="34" charset="0"/>
                <a:ea typeface="Calibri" pitchFamily="34" charset="-122"/>
                <a:cs typeface="Calibri" pitchFamily="34" charset="-120"/>
              </a:rPr>
              <a:t>Compressed Stabilised Earth Blocks (CSEB)</a:t>
            </a:r>
            <a:pPr indent="0" marL="0">
              <a:buNone/>
            </a:pPr>
            <a:r>
              <a:rPr lang="en-US" sz="1400" dirty="0">
                <a:solidFill>
                  <a:srgbClr val="BCAE9C"/>
                </a:solidFill>
                <a:latin typeface="Calibri" pitchFamily="34" charset="0"/>
                <a:ea typeface="Calibri" pitchFamily="34" charset="-122"/>
                <a:cs typeface="Calibri" pitchFamily="34" charset="-120"/>
              </a:rPr>
              <a:t>   ·   Ranga Reddy District   ·   2026</a:t>
            </a:r>
            <a:endParaRPr lang="en-US" sz="1400" dirty="0"/>
          </a:p>
        </p:txBody>
      </p:sp>
      <p:sp>
        <p:nvSpPr>
          <p:cNvPr id="30" name="Text 28"/>
          <p:cNvSpPr/>
          <p:nvPr/>
        </p:nvSpPr>
        <p:spPr>
          <a:xfrm>
            <a:off x="566928" y="4434840"/>
            <a:ext cx="5486400" cy="274320"/>
          </a:xfrm>
          <a:prstGeom prst="rect">
            <a:avLst/>
          </a:prstGeom>
          <a:noFill/>
          <a:ln/>
        </p:spPr>
        <p:txBody>
          <a:bodyPr wrap="square" lIns="0" tIns="0" rIns="0" bIns="0" rtlCol="0" anchor="ctr"/>
          <a:lstStyle/>
          <a:p>
            <a:pPr indent="0" marL="0">
              <a:buNone/>
            </a:pPr>
            <a:r>
              <a:rPr lang="en-US" sz="1200" b="1" spc="400" kern="0" dirty="0">
                <a:solidFill>
                  <a:srgbClr val="B85042"/>
                </a:solidFill>
                <a:latin typeface="Calibri" pitchFamily="34" charset="0"/>
                <a:ea typeface="Calibri" pitchFamily="34" charset="-122"/>
                <a:cs typeface="Calibri" pitchFamily="34" charset="-120"/>
              </a:rPr>
              <a:t>INVESTOR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THE OPPORTUNITY</a:t>
            </a:r>
            <a:endParaRPr lang="en-US" sz="1200" dirty="0"/>
          </a:p>
        </p:txBody>
      </p:sp>
      <p:sp>
        <p:nvSpPr>
          <p:cNvPr id="3" name="Text 1"/>
          <p:cNvSpPr/>
          <p:nvPr/>
        </p:nvSpPr>
        <p:spPr>
          <a:xfrm>
            <a:off x="548640" y="749808"/>
            <a:ext cx="8046720" cy="548640"/>
          </a:xfrm>
          <a:prstGeom prst="rect">
            <a:avLst/>
          </a:prstGeom>
          <a:noFill/>
          <a:ln/>
        </p:spPr>
        <p:txBody>
          <a:bodyPr wrap="square" lIns="0" tIns="0" rIns="0" bIns="0" rtlCol="0" anchor="ctr"/>
          <a:lstStyle/>
          <a:p>
            <a:pPr indent="0" marL="0">
              <a:buNone/>
            </a:pPr>
            <a:r>
              <a:rPr lang="en-US" sz="2800" b="1" dirty="0">
                <a:solidFill>
                  <a:srgbClr val="33291F"/>
                </a:solidFill>
                <a:latin typeface="Cambria" pitchFamily="34" charset="0"/>
                <a:ea typeface="Cambria" pitchFamily="34" charset="-122"/>
                <a:cs typeface="Cambria" pitchFamily="34" charset="-120"/>
              </a:rPr>
              <a:t>We mapped every brick factory in Telangana.</a:t>
            </a:r>
            <a:endParaRPr lang="en-US" sz="2800" dirty="0"/>
          </a:p>
        </p:txBody>
      </p:sp>
      <p:sp>
        <p:nvSpPr>
          <p:cNvPr id="4" name="Shape 2"/>
          <p:cNvSpPr/>
          <p:nvPr/>
        </p:nvSpPr>
        <p:spPr>
          <a:xfrm>
            <a:off x="548640" y="1691640"/>
            <a:ext cx="2514600" cy="2148840"/>
          </a:xfrm>
          <a:prstGeom prst="roundRect">
            <a:avLst>
              <a:gd name="adj" fmla="val 4255"/>
            </a:avLst>
          </a:prstGeom>
          <a:solidFill>
            <a:srgbClr val="F6F2EA"/>
          </a:solidFill>
          <a:ln/>
          <a:effectLst>
            <a:outerShdw sx="100000" sy="100000" kx="0" ky="0" algn="bl" rotWithShape="0" blurRad="88900" dist="38100" dir="5400000">
              <a:srgbClr val="000000">
                <a:alpha val="16000"/>
              </a:srgbClr>
            </a:outerShdw>
          </a:effectLst>
        </p:spPr>
      </p:sp>
      <p:sp>
        <p:nvSpPr>
          <p:cNvPr id="5" name="Text 3"/>
          <p:cNvSpPr/>
          <p:nvPr/>
        </p:nvSpPr>
        <p:spPr>
          <a:xfrm>
            <a:off x="548640" y="1874520"/>
            <a:ext cx="2514600" cy="1005840"/>
          </a:xfrm>
          <a:prstGeom prst="rect">
            <a:avLst/>
          </a:prstGeom>
          <a:noFill/>
          <a:ln/>
        </p:spPr>
        <p:txBody>
          <a:bodyPr wrap="square" lIns="0" tIns="0" rIns="0" bIns="0" rtlCol="0" anchor="ctr"/>
          <a:lstStyle/>
          <a:p>
            <a:pPr algn="ctr" indent="0" marL="0">
              <a:buNone/>
            </a:pPr>
            <a:r>
              <a:rPr lang="en-US" sz="6600" b="1" dirty="0">
                <a:solidFill>
                  <a:srgbClr val="B85042"/>
                </a:solidFill>
                <a:latin typeface="Cambria" pitchFamily="34" charset="0"/>
                <a:ea typeface="Cambria" pitchFamily="34" charset="-122"/>
                <a:cs typeface="Cambria" pitchFamily="34" charset="-120"/>
              </a:rPr>
              <a:t>355</a:t>
            </a:r>
            <a:endParaRPr lang="en-US" sz="6600" dirty="0"/>
          </a:p>
        </p:txBody>
      </p:sp>
      <p:sp>
        <p:nvSpPr>
          <p:cNvPr id="6" name="Text 4"/>
          <p:cNvSpPr/>
          <p:nvPr/>
        </p:nvSpPr>
        <p:spPr>
          <a:xfrm>
            <a:off x="731520" y="2926080"/>
            <a:ext cx="2148840" cy="777240"/>
          </a:xfrm>
          <a:prstGeom prst="rect">
            <a:avLst/>
          </a:prstGeom>
          <a:noFill/>
          <a:ln/>
        </p:spPr>
        <p:txBody>
          <a:bodyPr wrap="square" lIns="0" tIns="0" rIns="0" bIns="0" rtlCol="0" anchor="ctr"/>
          <a:lstStyle/>
          <a:p>
            <a:pPr algn="ctr" indent="0" marL="0">
              <a:buNone/>
            </a:pPr>
            <a:r>
              <a:rPr lang="en-US" sz="1350" dirty="0">
                <a:solidFill>
                  <a:srgbClr val="33291F"/>
                </a:solidFill>
                <a:latin typeface="Calibri" pitchFamily="34" charset="0"/>
                <a:ea typeface="Calibri" pitchFamily="34" charset="-122"/>
                <a:cs typeface="Calibri" pitchFamily="34" charset="-120"/>
              </a:rPr>
              <a:t>factories surveyed</a:t>
            </a:r>
            <a:endParaRPr lang="en-US" sz="1350" dirty="0"/>
          </a:p>
          <a:p>
            <a:pPr algn="ctr" indent="0" marL="0">
              <a:buNone/>
            </a:pPr>
            <a:r>
              <a:rPr lang="en-US" sz="1350" dirty="0">
                <a:solidFill>
                  <a:srgbClr val="33291F"/>
                </a:solidFill>
                <a:latin typeface="Calibri" pitchFamily="34" charset="0"/>
                <a:ea typeface="Calibri" pitchFamily="34" charset="-122"/>
                <a:cs typeface="Calibri" pitchFamily="34" charset="-120"/>
              </a:rPr>
              <a:t>across 31 districts</a:t>
            </a:r>
            <a:endParaRPr lang="en-US" sz="1350" dirty="0"/>
          </a:p>
        </p:txBody>
      </p:sp>
      <p:sp>
        <p:nvSpPr>
          <p:cNvPr id="7" name="Shape 5"/>
          <p:cNvSpPr/>
          <p:nvPr/>
        </p:nvSpPr>
        <p:spPr>
          <a:xfrm>
            <a:off x="3291840" y="1691640"/>
            <a:ext cx="2514600" cy="2148840"/>
          </a:xfrm>
          <a:prstGeom prst="roundRect">
            <a:avLst>
              <a:gd name="adj" fmla="val 4255"/>
            </a:avLst>
          </a:prstGeom>
          <a:solidFill>
            <a:srgbClr val="F6F2EA"/>
          </a:solidFill>
          <a:ln/>
          <a:effectLst>
            <a:outerShdw sx="100000" sy="100000" kx="0" ky="0" algn="bl" rotWithShape="0" blurRad="88900" dist="38100" dir="5400000">
              <a:srgbClr val="000000">
                <a:alpha val="16000"/>
              </a:srgbClr>
            </a:outerShdw>
          </a:effectLst>
        </p:spPr>
      </p:sp>
      <p:sp>
        <p:nvSpPr>
          <p:cNvPr id="8" name="Text 6"/>
          <p:cNvSpPr/>
          <p:nvPr/>
        </p:nvSpPr>
        <p:spPr>
          <a:xfrm>
            <a:off x="3291840" y="1874520"/>
            <a:ext cx="2514600" cy="1005840"/>
          </a:xfrm>
          <a:prstGeom prst="rect">
            <a:avLst/>
          </a:prstGeom>
          <a:noFill/>
          <a:ln/>
        </p:spPr>
        <p:txBody>
          <a:bodyPr wrap="square" lIns="0" tIns="0" rIns="0" bIns="0" rtlCol="0" anchor="ctr"/>
          <a:lstStyle/>
          <a:p>
            <a:pPr algn="ctr" indent="0" marL="0">
              <a:buNone/>
            </a:pPr>
            <a:r>
              <a:rPr lang="en-US" sz="6600" b="1" dirty="0">
                <a:solidFill>
                  <a:srgbClr val="D8A24A"/>
                </a:solidFill>
                <a:latin typeface="Cambria" pitchFamily="34" charset="0"/>
                <a:ea typeface="Cambria" pitchFamily="34" charset="-122"/>
                <a:cs typeface="Cambria" pitchFamily="34" charset="-120"/>
              </a:rPr>
              <a:t>55%</a:t>
            </a:r>
            <a:endParaRPr lang="en-US" sz="6600" dirty="0"/>
          </a:p>
        </p:txBody>
      </p:sp>
      <p:sp>
        <p:nvSpPr>
          <p:cNvPr id="9" name="Text 7"/>
          <p:cNvSpPr/>
          <p:nvPr/>
        </p:nvSpPr>
        <p:spPr>
          <a:xfrm>
            <a:off x="3474720" y="2926080"/>
            <a:ext cx="2148840" cy="777240"/>
          </a:xfrm>
          <a:prstGeom prst="rect">
            <a:avLst/>
          </a:prstGeom>
          <a:noFill/>
          <a:ln/>
        </p:spPr>
        <p:txBody>
          <a:bodyPr wrap="square" lIns="0" tIns="0" rIns="0" bIns="0" rtlCol="0" anchor="ctr"/>
          <a:lstStyle/>
          <a:p>
            <a:pPr algn="ctr" indent="0" marL="0">
              <a:buNone/>
            </a:pPr>
            <a:r>
              <a:rPr lang="en-US" sz="1350" dirty="0">
                <a:solidFill>
                  <a:srgbClr val="33291F"/>
                </a:solidFill>
                <a:latin typeface="Calibri" pitchFamily="34" charset="0"/>
                <a:ea typeface="Calibri" pitchFamily="34" charset="-122"/>
                <a:cs typeface="Calibri" pitchFamily="34" charset="-120"/>
              </a:rPr>
              <a:t>still hand-made —</a:t>
            </a:r>
            <a:endParaRPr lang="en-US" sz="1350" dirty="0"/>
          </a:p>
          <a:p>
            <a:pPr algn="ctr" indent="0" marL="0">
              <a:buNone/>
            </a:pPr>
            <a:r>
              <a:rPr lang="en-US" sz="1350" dirty="0">
                <a:solidFill>
                  <a:srgbClr val="33291F"/>
                </a:solidFill>
                <a:latin typeface="Calibri" pitchFamily="34" charset="0"/>
                <a:ea typeface="Calibri" pitchFamily="34" charset="-122"/>
                <a:cs typeface="Calibri" pitchFamily="34" charset="-120"/>
              </a:rPr>
              <a:t>no modernisation</a:t>
            </a:r>
            <a:endParaRPr lang="en-US" sz="1350" dirty="0"/>
          </a:p>
        </p:txBody>
      </p:sp>
      <p:sp>
        <p:nvSpPr>
          <p:cNvPr id="10" name="Shape 8"/>
          <p:cNvSpPr/>
          <p:nvPr/>
        </p:nvSpPr>
        <p:spPr>
          <a:xfrm>
            <a:off x="6035040" y="1691640"/>
            <a:ext cx="2514600" cy="2148840"/>
          </a:xfrm>
          <a:prstGeom prst="roundRect">
            <a:avLst>
              <a:gd name="adj" fmla="val 4255"/>
            </a:avLst>
          </a:prstGeom>
          <a:solidFill>
            <a:srgbClr val="262019"/>
          </a:solidFill>
          <a:ln/>
          <a:effectLst>
            <a:outerShdw sx="100000" sy="100000" kx="0" ky="0" algn="bl" rotWithShape="0" blurRad="88900" dist="38100" dir="5400000">
              <a:srgbClr val="000000">
                <a:alpha val="16000"/>
              </a:srgbClr>
            </a:outerShdw>
          </a:effectLst>
        </p:spPr>
      </p:sp>
      <p:sp>
        <p:nvSpPr>
          <p:cNvPr id="11" name="Text 9"/>
          <p:cNvSpPr/>
          <p:nvPr/>
        </p:nvSpPr>
        <p:spPr>
          <a:xfrm>
            <a:off x="6035040" y="1874520"/>
            <a:ext cx="2514600" cy="1005840"/>
          </a:xfrm>
          <a:prstGeom prst="rect">
            <a:avLst/>
          </a:prstGeom>
          <a:noFill/>
          <a:ln/>
        </p:spPr>
        <p:txBody>
          <a:bodyPr wrap="square" lIns="0" tIns="0" rIns="0" bIns="0" rtlCol="0" anchor="ctr"/>
          <a:lstStyle/>
          <a:p>
            <a:pPr algn="ctr" indent="0" marL="0">
              <a:buNone/>
            </a:pPr>
            <a:r>
              <a:rPr lang="en-US" sz="6600" b="1" dirty="0">
                <a:solidFill>
                  <a:srgbClr val="5C8A5A"/>
                </a:solidFill>
                <a:latin typeface="Cambria" pitchFamily="34" charset="0"/>
                <a:ea typeface="Cambria" pitchFamily="34" charset="-122"/>
                <a:cs typeface="Cambria" pitchFamily="34" charset="-120"/>
              </a:rPr>
              <a:t>0</a:t>
            </a:r>
            <a:endParaRPr lang="en-US" sz="6600" dirty="0"/>
          </a:p>
        </p:txBody>
      </p:sp>
      <p:sp>
        <p:nvSpPr>
          <p:cNvPr id="12" name="Text 10"/>
          <p:cNvSpPr/>
          <p:nvPr/>
        </p:nvSpPr>
        <p:spPr>
          <a:xfrm>
            <a:off x="6217920" y="2926080"/>
            <a:ext cx="2148840" cy="777240"/>
          </a:xfrm>
          <a:prstGeom prst="rect">
            <a:avLst/>
          </a:prstGeom>
          <a:noFill/>
          <a:ln/>
        </p:spPr>
        <p:txBody>
          <a:bodyPr wrap="square" lIns="0" tIns="0" rIns="0" bIns="0" rtlCol="0" anchor="ctr"/>
          <a:lstStyle/>
          <a:p>
            <a:pPr algn="ctr" indent="0" marL="0">
              <a:buNone/>
            </a:pPr>
            <a:r>
              <a:rPr lang="en-US" sz="1350" dirty="0">
                <a:solidFill>
                  <a:srgbClr val="EDE7D9"/>
                </a:solidFill>
                <a:latin typeface="Calibri" pitchFamily="34" charset="0"/>
                <a:ea typeface="Calibri" pitchFamily="34" charset="-122"/>
                <a:cs typeface="Calibri" pitchFamily="34" charset="-120"/>
              </a:rPr>
              <a:t>make mud interlocking</a:t>
            </a:r>
            <a:endParaRPr lang="en-US" sz="1350" dirty="0"/>
          </a:p>
          <a:p>
            <a:pPr algn="ctr" indent="0" marL="0">
              <a:buNone/>
            </a:pPr>
            <a:r>
              <a:rPr lang="en-US" sz="1350" dirty="0">
                <a:solidFill>
                  <a:srgbClr val="EDE7D9"/>
                </a:solidFill>
                <a:latin typeface="Calibri" pitchFamily="34" charset="0"/>
                <a:ea typeface="Calibri" pitchFamily="34" charset="-122"/>
                <a:cs typeface="Calibri" pitchFamily="34" charset="-120"/>
              </a:rPr>
              <a:t>bricks at machine scale</a:t>
            </a:r>
            <a:endParaRPr lang="en-US" sz="1350" dirty="0"/>
          </a:p>
        </p:txBody>
      </p:sp>
      <p:sp>
        <p:nvSpPr>
          <p:cNvPr id="13" name="Text 11"/>
          <p:cNvSpPr/>
          <p:nvPr/>
        </p:nvSpPr>
        <p:spPr>
          <a:xfrm>
            <a:off x="548640" y="4069080"/>
            <a:ext cx="8046720" cy="457200"/>
          </a:xfrm>
          <a:prstGeom prst="rect">
            <a:avLst/>
          </a:prstGeom>
          <a:noFill/>
          <a:ln/>
        </p:spPr>
        <p:txBody>
          <a:bodyPr wrap="square" lIns="0" tIns="0" rIns="0" bIns="0" rtlCol="0" anchor="ctr"/>
          <a:lstStyle/>
          <a:p>
            <a:pPr indent="0" marL="0">
              <a:buNone/>
            </a:pPr>
            <a:r>
              <a:rPr lang="en-US" sz="2000" i="1" dirty="0">
                <a:solidFill>
                  <a:srgbClr val="33291F"/>
                </a:solidFill>
                <a:latin typeface="Cambria" pitchFamily="34" charset="0"/>
                <a:ea typeface="Cambria" pitchFamily="34" charset="-122"/>
                <a:cs typeface="Cambria" pitchFamily="34" charset="-120"/>
              </a:rPr>
              <a:t>This is not a demand gap. It is an </a:t>
            </a:r>
            <a:pPr indent="0" marL="0">
              <a:buNone/>
            </a:pPr>
            <a:r>
              <a:rPr lang="en-US" sz="2000" b="1" i="1" dirty="0">
                <a:solidFill>
                  <a:srgbClr val="B85042"/>
                </a:solidFill>
                <a:latin typeface="Cambria" pitchFamily="34" charset="0"/>
                <a:ea typeface="Cambria" pitchFamily="34" charset="-122"/>
                <a:cs typeface="Cambria" pitchFamily="34" charset="-120"/>
              </a:rPr>
              <a:t>empty shelf.</a:t>
            </a:r>
            <a:endParaRPr lang="en-US" sz="2000" dirty="0"/>
          </a:p>
        </p:txBody>
      </p:sp>
      <p:sp>
        <p:nvSpPr>
          <p:cNvPr id="14" name="Text 12"/>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 TerraBlock field survey of 355 brick manufacturers, Telangana (Google Maps, 2025).</a:t>
            </a:r>
            <a:endParaRPr lang="en-US" sz="800" dirty="0"/>
          </a:p>
        </p:txBody>
      </p:sp>
      <p:sp>
        <p:nvSpPr>
          <p:cNvPr id="15" name="Text 13"/>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600" b="1" dirty="0">
                <a:solidFill>
                  <a:srgbClr val="33291F"/>
                </a:solidFill>
                <a:latin typeface="Cambria" pitchFamily="34" charset="0"/>
                <a:ea typeface="Cambria" pitchFamily="34" charset="-122"/>
                <a:cs typeface="Cambria" pitchFamily="34" charset="-120"/>
              </a:rPr>
              <a:t>Building with brick in Telangana is slow, costly and unverified</a:t>
            </a:r>
            <a:endParaRPr lang="en-US" sz="2600" dirty="0"/>
          </a:p>
        </p:txBody>
      </p:sp>
      <p:sp>
        <p:nvSpPr>
          <p:cNvPr id="4" name="Shape 2"/>
          <p:cNvSpPr/>
          <p:nvPr/>
        </p:nvSpPr>
        <p:spPr>
          <a:xfrm>
            <a:off x="594360" y="1554480"/>
            <a:ext cx="713232" cy="713232"/>
          </a:xfrm>
          <a:prstGeom prst="ellipse">
            <a:avLst/>
          </a:prstGeom>
          <a:solidFill>
            <a:srgbClr val="B85042"/>
          </a:solidFill>
          <a:ln/>
        </p:spPr>
      </p:sp>
      <p:pic>
        <p:nvPicPr>
          <p:cNvPr id="5" name="Image 0" descr="preencoded.png">    </p:cNvPr>
          <p:cNvPicPr>
            <a:picLocks noChangeAspect="1"/>
          </p:cNvPicPr>
          <p:nvPr/>
        </p:nvPicPr>
        <p:blipFill>
          <a:blip r:embed="rId1"/>
          <a:stretch>
            <a:fillRect/>
          </a:stretch>
        </p:blipFill>
        <p:spPr>
          <a:xfrm>
            <a:off x="786933" y="1747053"/>
            <a:ext cx="328087" cy="328087"/>
          </a:xfrm>
          <a:prstGeom prst="rect">
            <a:avLst/>
          </a:prstGeom>
        </p:spPr>
      </p:pic>
      <p:sp>
        <p:nvSpPr>
          <p:cNvPr id="6" name="Text 3"/>
          <p:cNvSpPr/>
          <p:nvPr/>
        </p:nvSpPr>
        <p:spPr>
          <a:xfrm>
            <a:off x="1508760" y="1536192"/>
            <a:ext cx="7040880" cy="365760"/>
          </a:xfrm>
          <a:prstGeom prst="rect">
            <a:avLst/>
          </a:prstGeom>
          <a:noFill/>
          <a:ln/>
        </p:spPr>
        <p:txBody>
          <a:bodyPr wrap="square" lIns="0" tIns="0" rIns="0" bIns="0" rtlCol="0" anchor="ctr"/>
          <a:lstStyle/>
          <a:p>
            <a:pPr indent="0" marL="0">
              <a:buNone/>
            </a:pPr>
            <a:r>
              <a:rPr lang="en-US" sz="1800" b="1" dirty="0">
                <a:solidFill>
                  <a:srgbClr val="33291F"/>
                </a:solidFill>
                <a:latin typeface="Cambria" pitchFamily="34" charset="0"/>
                <a:ea typeface="Cambria" pitchFamily="34" charset="-122"/>
                <a:cs typeface="Cambria" pitchFamily="34" charset="-120"/>
              </a:rPr>
              <a:t>Skilled labour is scarce</a:t>
            </a:r>
            <a:endParaRPr lang="en-US" sz="1800" dirty="0"/>
          </a:p>
        </p:txBody>
      </p:sp>
      <p:sp>
        <p:nvSpPr>
          <p:cNvPr id="7" name="Text 4"/>
          <p:cNvSpPr/>
          <p:nvPr/>
        </p:nvSpPr>
        <p:spPr>
          <a:xfrm>
            <a:off x="1508760" y="1901952"/>
            <a:ext cx="7040880" cy="640080"/>
          </a:xfrm>
          <a:prstGeom prst="rect">
            <a:avLst/>
          </a:prstGeom>
          <a:noFill/>
          <a:ln/>
        </p:spPr>
        <p:txBody>
          <a:bodyPr wrap="square" lIns="0" tIns="0" rIns="0" bIns="0" rtlCol="0" anchor="ctr"/>
          <a:lstStyle/>
          <a:p>
            <a:pPr indent="0" marL="0">
              <a:buNone/>
            </a:pPr>
            <a:r>
              <a:rPr lang="en-US" sz="1250" dirty="0">
                <a:solidFill>
                  <a:srgbClr val="55493D"/>
                </a:solidFill>
                <a:latin typeface="Calibri" pitchFamily="34" charset="0"/>
                <a:ea typeface="Calibri" pitchFamily="34" charset="-122"/>
                <a:cs typeface="Calibri" pitchFamily="34" charset="-120"/>
              </a:rPr>
              <a:t>India's construction sector is short ~2 million skilled workers. Mason wages have risen 8–12% in a year. Conventional brick walls need mortar, alignment and time.</a:t>
            </a:r>
            <a:endParaRPr lang="en-US" sz="1250" dirty="0"/>
          </a:p>
        </p:txBody>
      </p:sp>
      <p:sp>
        <p:nvSpPr>
          <p:cNvPr id="8" name="Shape 5"/>
          <p:cNvSpPr/>
          <p:nvPr/>
        </p:nvSpPr>
        <p:spPr>
          <a:xfrm>
            <a:off x="594360" y="2633472"/>
            <a:ext cx="713232" cy="713232"/>
          </a:xfrm>
          <a:prstGeom prst="ellipse">
            <a:avLst/>
          </a:prstGeom>
          <a:solidFill>
            <a:srgbClr val="8F3D31"/>
          </a:solidFill>
          <a:ln/>
        </p:spPr>
      </p:sp>
      <p:pic>
        <p:nvPicPr>
          <p:cNvPr id="9" name="Image 1" descr="preencoded.png">    </p:cNvPr>
          <p:cNvPicPr>
            <a:picLocks noChangeAspect="1"/>
          </p:cNvPicPr>
          <p:nvPr/>
        </p:nvPicPr>
        <p:blipFill>
          <a:blip r:embed="rId2"/>
          <a:stretch>
            <a:fillRect/>
          </a:stretch>
        </p:blipFill>
        <p:spPr>
          <a:xfrm>
            <a:off x="786933" y="2826045"/>
            <a:ext cx="328087" cy="328087"/>
          </a:xfrm>
          <a:prstGeom prst="rect">
            <a:avLst/>
          </a:prstGeom>
        </p:spPr>
      </p:pic>
      <p:sp>
        <p:nvSpPr>
          <p:cNvPr id="10" name="Text 6"/>
          <p:cNvSpPr/>
          <p:nvPr/>
        </p:nvSpPr>
        <p:spPr>
          <a:xfrm>
            <a:off x="1508760" y="2615184"/>
            <a:ext cx="7040880" cy="365760"/>
          </a:xfrm>
          <a:prstGeom prst="rect">
            <a:avLst/>
          </a:prstGeom>
          <a:noFill/>
          <a:ln/>
        </p:spPr>
        <p:txBody>
          <a:bodyPr wrap="square" lIns="0" tIns="0" rIns="0" bIns="0" rtlCol="0" anchor="ctr"/>
          <a:lstStyle/>
          <a:p>
            <a:pPr indent="0" marL="0">
              <a:buNone/>
            </a:pPr>
            <a:r>
              <a:rPr lang="en-US" sz="1800" b="1" dirty="0">
                <a:solidFill>
                  <a:srgbClr val="33291F"/>
                </a:solidFill>
                <a:latin typeface="Cambria" pitchFamily="34" charset="0"/>
                <a:ea typeface="Cambria" pitchFamily="34" charset="-122"/>
                <a:cs typeface="Cambria" pitchFamily="34" charset="-120"/>
              </a:rPr>
              <a:t>Supply is unreliable</a:t>
            </a:r>
            <a:endParaRPr lang="en-US" sz="1800" dirty="0"/>
          </a:p>
        </p:txBody>
      </p:sp>
      <p:sp>
        <p:nvSpPr>
          <p:cNvPr id="11" name="Text 7"/>
          <p:cNvSpPr/>
          <p:nvPr/>
        </p:nvSpPr>
        <p:spPr>
          <a:xfrm>
            <a:off x="1508760" y="2980944"/>
            <a:ext cx="7040880" cy="640080"/>
          </a:xfrm>
          <a:prstGeom prst="rect">
            <a:avLst/>
          </a:prstGeom>
          <a:noFill/>
          <a:ln/>
        </p:spPr>
        <p:txBody>
          <a:bodyPr wrap="square" lIns="0" tIns="0" rIns="0" bIns="0" rtlCol="0" anchor="ctr"/>
          <a:lstStyle/>
          <a:p>
            <a:pPr indent="0" marL="0">
              <a:buNone/>
            </a:pPr>
            <a:r>
              <a:rPr lang="en-US" sz="1250" dirty="0">
                <a:solidFill>
                  <a:srgbClr val="55493D"/>
                </a:solidFill>
                <a:latin typeface="Calibri" pitchFamily="34" charset="0"/>
                <a:ea typeface="Calibri" pitchFamily="34" charset="-122"/>
                <a:cs typeface="Calibri" pitchFamily="34" charset="-120"/>
              </a:rPr>
              <a:t>Fly ash bricks depend on power-plant ash supply, which swings with plant utilisation. When supply stalls, the project stalls.</a:t>
            </a:r>
            <a:endParaRPr lang="en-US" sz="1250" dirty="0"/>
          </a:p>
        </p:txBody>
      </p:sp>
      <p:sp>
        <p:nvSpPr>
          <p:cNvPr id="12" name="Shape 8"/>
          <p:cNvSpPr/>
          <p:nvPr/>
        </p:nvSpPr>
        <p:spPr>
          <a:xfrm>
            <a:off x="594360" y="3712464"/>
            <a:ext cx="713232" cy="713232"/>
          </a:xfrm>
          <a:prstGeom prst="ellipse">
            <a:avLst/>
          </a:prstGeom>
          <a:solidFill>
            <a:srgbClr val="5C8A5A"/>
          </a:solidFill>
          <a:ln/>
        </p:spPr>
      </p:sp>
      <p:pic>
        <p:nvPicPr>
          <p:cNvPr id="13" name="Image 2" descr="preencoded.png">    </p:cNvPr>
          <p:cNvPicPr>
            <a:picLocks noChangeAspect="1"/>
          </p:cNvPicPr>
          <p:nvPr/>
        </p:nvPicPr>
        <p:blipFill>
          <a:blip r:embed="rId3"/>
          <a:stretch>
            <a:fillRect/>
          </a:stretch>
        </p:blipFill>
        <p:spPr>
          <a:xfrm>
            <a:off x="786933" y="3905037"/>
            <a:ext cx="328087" cy="328087"/>
          </a:xfrm>
          <a:prstGeom prst="rect">
            <a:avLst/>
          </a:prstGeom>
        </p:spPr>
      </p:pic>
      <p:sp>
        <p:nvSpPr>
          <p:cNvPr id="14" name="Text 9"/>
          <p:cNvSpPr/>
          <p:nvPr/>
        </p:nvSpPr>
        <p:spPr>
          <a:xfrm>
            <a:off x="1508760" y="3694176"/>
            <a:ext cx="7040880" cy="365760"/>
          </a:xfrm>
          <a:prstGeom prst="rect">
            <a:avLst/>
          </a:prstGeom>
          <a:noFill/>
          <a:ln/>
        </p:spPr>
        <p:txBody>
          <a:bodyPr wrap="square" lIns="0" tIns="0" rIns="0" bIns="0" rtlCol="0" anchor="ctr"/>
          <a:lstStyle/>
          <a:p>
            <a:pPr indent="0" marL="0">
              <a:buNone/>
            </a:pPr>
            <a:r>
              <a:rPr lang="en-US" sz="1800" b="1" dirty="0">
                <a:solidFill>
                  <a:srgbClr val="33291F"/>
                </a:solidFill>
                <a:latin typeface="Cambria" pitchFamily="34" charset="0"/>
                <a:ea typeface="Cambria" pitchFamily="34" charset="-122"/>
                <a:cs typeface="Cambria" pitchFamily="34" charset="-120"/>
              </a:rPr>
              <a:t>No eco product at scale</a:t>
            </a:r>
            <a:endParaRPr lang="en-US" sz="1800" dirty="0"/>
          </a:p>
        </p:txBody>
      </p:sp>
      <p:sp>
        <p:nvSpPr>
          <p:cNvPr id="15" name="Text 10"/>
          <p:cNvSpPr/>
          <p:nvPr/>
        </p:nvSpPr>
        <p:spPr>
          <a:xfrm>
            <a:off x="1508760" y="4059936"/>
            <a:ext cx="7040880" cy="640080"/>
          </a:xfrm>
          <a:prstGeom prst="rect">
            <a:avLst/>
          </a:prstGeom>
          <a:noFill/>
          <a:ln/>
        </p:spPr>
        <p:txBody>
          <a:bodyPr wrap="square" lIns="0" tIns="0" rIns="0" bIns="0" rtlCol="0" anchor="ctr"/>
          <a:lstStyle/>
          <a:p>
            <a:pPr indent="0" marL="0">
              <a:buNone/>
            </a:pPr>
            <a:r>
              <a:rPr lang="en-US" sz="1250" dirty="0">
                <a:solidFill>
                  <a:srgbClr val="55493D"/>
                </a:solidFill>
                <a:latin typeface="Calibri" pitchFamily="34" charset="0"/>
                <a:ea typeface="Calibri" pitchFamily="34" charset="-122"/>
                <a:cs typeface="Calibri" pitchFamily="34" charset="-120"/>
              </a:rPr>
              <a:t>Green-rated projects (IGBC / PMAY) cannot source a certified low-carbon brick locally. The category simply doesn't exist here yet.</a:t>
            </a:r>
            <a:endParaRPr lang="en-US" sz="1250" dirty="0"/>
          </a:p>
        </p:txBody>
      </p:sp>
      <p:sp>
        <p:nvSpPr>
          <p:cNvPr id="16" name="Text 11"/>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Sources: GeoSquare / RPRealtyPlus (2M skilled-worker shortage); AECORD labour rates 2026; IGBC.</a:t>
            </a:r>
            <a:endParaRPr lang="en-US" sz="800" dirty="0"/>
          </a:p>
        </p:txBody>
      </p:sp>
      <p:sp>
        <p:nvSpPr>
          <p:cNvPr id="17" name="Text 12"/>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THE PRODUCT</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400" b="1" dirty="0">
                <a:solidFill>
                  <a:srgbClr val="33291F"/>
                </a:solidFill>
                <a:latin typeface="Cambria" pitchFamily="34" charset="0"/>
                <a:ea typeface="Cambria" pitchFamily="34" charset="-122"/>
                <a:cs typeface="Cambria" pitchFamily="34" charset="-120"/>
              </a:rPr>
              <a:t>A 5,000-year-old material, with a modern machine behind it</a:t>
            </a:r>
            <a:endParaRPr lang="en-US" sz="2400" dirty="0"/>
          </a:p>
        </p:txBody>
      </p:sp>
      <p:sp>
        <p:nvSpPr>
          <p:cNvPr id="4" name="Shape 2"/>
          <p:cNvSpPr/>
          <p:nvPr/>
        </p:nvSpPr>
        <p:spPr>
          <a:xfrm>
            <a:off x="548640" y="1554480"/>
            <a:ext cx="3657600" cy="2926080"/>
          </a:xfrm>
          <a:prstGeom prst="roundRect">
            <a:avLst>
              <a:gd name="adj" fmla="val 3125"/>
            </a:avLst>
          </a:prstGeom>
          <a:solidFill>
            <a:srgbClr val="262019"/>
          </a:solidFill>
          <a:ln/>
          <a:effectLst>
            <a:outerShdw sx="100000" sy="100000" kx="0" ky="0" algn="bl" rotWithShape="0" blurRad="88900" dist="38100" dir="5400000">
              <a:srgbClr val="000000">
                <a:alpha val="16000"/>
              </a:srgbClr>
            </a:outerShdw>
          </a:effectLst>
        </p:spPr>
      </p:sp>
      <p:sp>
        <p:nvSpPr>
          <p:cNvPr id="5" name="Shape 3"/>
          <p:cNvSpPr/>
          <p:nvPr/>
        </p:nvSpPr>
        <p:spPr>
          <a:xfrm>
            <a:off x="868680" y="1828800"/>
            <a:ext cx="640080" cy="640080"/>
          </a:xfrm>
          <a:prstGeom prst="ellipse">
            <a:avLst/>
          </a:prstGeom>
          <a:solidFill>
            <a:srgbClr val="B85042"/>
          </a:solidFill>
          <a:ln/>
        </p:spPr>
      </p:sp>
      <p:pic>
        <p:nvPicPr>
          <p:cNvPr id="6" name="Image 0" descr="preencoded.png">    </p:cNvPr>
          <p:cNvPicPr>
            <a:picLocks noChangeAspect="1"/>
          </p:cNvPicPr>
          <p:nvPr/>
        </p:nvPicPr>
        <p:blipFill>
          <a:blip r:embed="rId1"/>
          <a:stretch>
            <a:fillRect/>
          </a:stretch>
        </p:blipFill>
        <p:spPr>
          <a:xfrm>
            <a:off x="1041502" y="2001622"/>
            <a:ext cx="294437" cy="294437"/>
          </a:xfrm>
          <a:prstGeom prst="rect">
            <a:avLst/>
          </a:prstGeom>
        </p:spPr>
      </p:pic>
      <p:sp>
        <p:nvSpPr>
          <p:cNvPr id="7" name="Text 4"/>
          <p:cNvSpPr/>
          <p:nvPr/>
        </p:nvSpPr>
        <p:spPr>
          <a:xfrm>
            <a:off x="1645920" y="1828800"/>
            <a:ext cx="2377440" cy="6858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Compressed Stabilised</a:t>
            </a:r>
            <a:endParaRPr lang="en-US" sz="1600" dirty="0"/>
          </a:p>
          <a:p>
            <a:pPr indent="0" marL="0">
              <a:buNone/>
            </a:pPr>
            <a:r>
              <a:rPr lang="en-US" sz="1600" b="1" dirty="0">
                <a:solidFill>
                  <a:srgbClr val="FFFFFF"/>
                </a:solidFill>
                <a:latin typeface="Cambria" pitchFamily="34" charset="0"/>
                <a:ea typeface="Cambria" pitchFamily="34" charset="-122"/>
                <a:cs typeface="Cambria" pitchFamily="34" charset="-120"/>
              </a:rPr>
              <a:t>Earth Block (CSEB)</a:t>
            </a:r>
            <a:endParaRPr lang="en-US" sz="1600" dirty="0"/>
          </a:p>
        </p:txBody>
      </p:sp>
      <p:sp>
        <p:nvSpPr>
          <p:cNvPr id="8" name="Text 5"/>
          <p:cNvSpPr/>
          <p:nvPr/>
        </p:nvSpPr>
        <p:spPr>
          <a:xfrm>
            <a:off x="868680" y="2697480"/>
            <a:ext cx="3154680" cy="164592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EDE7D9"/>
                </a:solidFill>
                <a:latin typeface="Calibri" pitchFamily="34" charset="0"/>
                <a:ea typeface="Calibri" pitchFamily="34" charset="-122"/>
                <a:cs typeface="Calibri" pitchFamily="34" charset="-120"/>
              </a:rPr>
              <a:t>Local soil + 5–8% cement, hydraulically pressed</a:t>
            </a:r>
            <a:endParaRPr lang="en-US" sz="1250" dirty="0"/>
          </a:p>
          <a:p>
            <a:pPr marL="177800" indent="-177800">
              <a:spcAft>
                <a:spcPts val="800"/>
              </a:spcAft>
              <a:buSzPct val="100000"/>
              <a:buChar char="•"/>
            </a:pPr>
            <a:r>
              <a:rPr lang="en-US" sz="1250" dirty="0">
                <a:solidFill>
                  <a:srgbClr val="EDE7D9"/>
                </a:solidFill>
                <a:latin typeface="Calibri" pitchFamily="34" charset="0"/>
                <a:ea typeface="Calibri" pitchFamily="34" charset="-122"/>
                <a:cs typeface="Calibri" pitchFamily="34" charset="-120"/>
              </a:rPr>
              <a:t>No kiln, no firing — cured, not burnt</a:t>
            </a:r>
            <a:endParaRPr lang="en-US" sz="1250" dirty="0"/>
          </a:p>
          <a:p>
            <a:pPr marL="177800" indent="-177800">
              <a:spcAft>
                <a:spcPts val="800"/>
              </a:spcAft>
              <a:buSzPct val="100000"/>
              <a:buChar char="•"/>
            </a:pPr>
            <a:r>
              <a:rPr lang="en-US" sz="1250" dirty="0">
                <a:solidFill>
                  <a:srgbClr val="EDE7D9"/>
                </a:solidFill>
                <a:latin typeface="Calibri" pitchFamily="34" charset="0"/>
                <a:ea typeface="Calibri" pitchFamily="34" charset="-122"/>
                <a:cs typeface="Calibri" pitchFamily="34" charset="-120"/>
              </a:rPr>
              <a:t>Self-interlocking edges — little/no mortar</a:t>
            </a:r>
            <a:endParaRPr lang="en-US" sz="1250" dirty="0"/>
          </a:p>
          <a:p>
            <a:pPr marL="177800" indent="-177800">
              <a:spcAft>
                <a:spcPts val="800"/>
              </a:spcAft>
              <a:buSzPct val="100000"/>
              <a:buChar char="•"/>
            </a:pPr>
            <a:r>
              <a:rPr lang="en-US" sz="1250" dirty="0">
                <a:solidFill>
                  <a:srgbClr val="EDE7D9"/>
                </a:solidFill>
                <a:latin typeface="Calibri" pitchFamily="34" charset="0"/>
                <a:ea typeface="Calibri" pitchFamily="34" charset="-122"/>
                <a:cs typeface="Calibri" pitchFamily="34" charset="-120"/>
              </a:rPr>
              <a:t>Meets BIS IS 1725 · target IGBC certified</a:t>
            </a:r>
            <a:endParaRPr lang="en-US" sz="1250" dirty="0"/>
          </a:p>
        </p:txBody>
      </p:sp>
      <p:sp>
        <p:nvSpPr>
          <p:cNvPr id="9" name="Text 6"/>
          <p:cNvSpPr/>
          <p:nvPr/>
        </p:nvSpPr>
        <p:spPr>
          <a:xfrm>
            <a:off x="4526280" y="1554480"/>
            <a:ext cx="4114800" cy="365760"/>
          </a:xfrm>
          <a:prstGeom prst="rect">
            <a:avLst/>
          </a:prstGeom>
          <a:noFill/>
          <a:ln/>
        </p:spPr>
        <p:txBody>
          <a:bodyPr wrap="square" lIns="0" tIns="0" rIns="0" bIns="0" rtlCol="0" anchor="ctr"/>
          <a:lstStyle/>
          <a:p>
            <a:pPr indent="0" marL="0">
              <a:buNone/>
            </a:pPr>
            <a:r>
              <a:rPr lang="en-US" sz="1600" b="1" dirty="0">
                <a:solidFill>
                  <a:srgbClr val="8F3D31"/>
                </a:solidFill>
                <a:latin typeface="Cambria" pitchFamily="34" charset="0"/>
                <a:ea typeface="Cambria" pitchFamily="34" charset="-122"/>
                <a:cs typeface="Cambria" pitchFamily="34" charset="-120"/>
              </a:rPr>
              <a:t>Why mud beats the market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26280" y="1965960"/>
          <a:ext cx="4114800" cy="914400"/>
        </p:xfrm>
        <a:graphic>
          <a:graphicData uri="http://schemas.openxmlformats.org/drawingml/2006/table">
            <a:tbl>
              <a:tblPr/>
              <a:tblGrid>
                <a:gridCol w="1280160"/>
                <a:gridCol w="1508760"/>
                <a:gridCol w="1325880"/>
              </a:tblGrid>
              <a:tr h="420624">
                <a:tc>
                  <a:txBody>
                    <a:bodyPr/>
                    <a:lstStyle/>
                    <a:p>
                      <a:pPr indent="0" marL="0">
                        <a:buNone/>
                      </a:pPr>
                      <a:endParaRPr lang="en-US" sz="120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6F2EA"/>
                    </a:solidFill>
                  </a:tcPr>
                </a:tc>
                <a:tc>
                  <a:txBody>
                    <a:bodyPr/>
                    <a:lstStyle/>
                    <a:p>
                      <a:pPr algn="ctr" indent="0" marL="0">
                        <a:buNone/>
                      </a:pPr>
                      <a:r>
                        <a:rPr lang="en-US" sz="1100" b="1" dirty="0">
                          <a:solidFill>
                            <a:srgbClr val="FFFFFF"/>
                          </a:solidFill>
                        </a:rPr>
                        <a:t>Mud interlocking</a:t>
                      </a:r>
                      <a:endParaRPr lang="en-US" sz="110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5C8A5A"/>
                    </a:solidFill>
                  </a:tcPr>
                </a:tc>
                <a:tc>
                  <a:txBody>
                    <a:bodyPr/>
                    <a:lstStyle/>
                    <a:p>
                      <a:pPr algn="ctr" indent="0" marL="0">
                        <a:buNone/>
                      </a:pPr>
                      <a:r>
                        <a:rPr lang="en-US" sz="1100" b="1" dirty="0">
                          <a:solidFill>
                            <a:srgbClr val="FFFFFF"/>
                          </a:solidFill>
                        </a:rPr>
                        <a:t>Fly ash brick</a:t>
                      </a:r>
                      <a:endParaRPr lang="en-US" sz="110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B7AC9C"/>
                    </a:solidFill>
                  </a:tcPr>
                </a:tc>
              </a:tr>
              <a:tr h="420624">
                <a:tc>
                  <a:txBody>
                    <a:bodyPr/>
                    <a:lstStyle/>
                    <a:p>
                      <a:pPr indent="0" marL="0">
                        <a:buNone/>
                      </a:pPr>
                      <a:r>
                        <a:rPr lang="en-US" sz="1050" b="1" dirty="0">
                          <a:solidFill>
                            <a:srgbClr val="33291F"/>
                          </a:solidFill>
                        </a:rPr>
                        <a:t>Raw material</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Local soil — under your feet</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Bought-in fly ash</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33291F"/>
                          </a:solidFill>
                        </a:rPr>
                        <a:t>Energy</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Cold press — no kiln</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Kiln / steam curing</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33291F"/>
                          </a:solidFill>
                        </a:rPr>
                        <a:t>For the builder</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Stacks fast, less mortar</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Conventional laying</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33291F"/>
                          </a:solidFill>
                        </a:rPr>
                        <a:t>Carbon</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Low — no firing</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Medium</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33291F"/>
                          </a:solidFill>
                        </a:rPr>
                        <a:t>In Telangana</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Unique — 0 competitors</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Commodity — 100s</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bl>
          </a:graphicData>
        </a:graphic>
      </p:graphicFrame>
      <p:sp>
        <p:nvSpPr>
          <p:cNvPr id="11" name="Text 7"/>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Sources: Auroville Earth Institute; GoodEarth; Brick&amp;Bolt CSEB guide (5–9% cement, kiln-free, ~8% cheaper construction).</a:t>
            </a:r>
            <a:endParaRPr lang="en-US" sz="800" dirty="0"/>
          </a:p>
        </p:txBody>
      </p:sp>
      <p:sp>
        <p:nvSpPr>
          <p:cNvPr id="12" name="Text 8"/>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WHY NOW</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Three forces are opening this market at the same time</a:t>
            </a:r>
            <a:endParaRPr lang="en-US" sz="2500" dirty="0"/>
          </a:p>
        </p:txBody>
      </p:sp>
      <p:sp>
        <p:nvSpPr>
          <p:cNvPr id="4" name="Shape 2"/>
          <p:cNvSpPr/>
          <p:nvPr/>
        </p:nvSpPr>
        <p:spPr>
          <a:xfrm>
            <a:off x="548640" y="1600200"/>
            <a:ext cx="2514600" cy="2788920"/>
          </a:xfrm>
          <a:prstGeom prst="roundRect">
            <a:avLst>
              <a:gd name="adj" fmla="val 3636"/>
            </a:avLst>
          </a:prstGeom>
          <a:solidFill>
            <a:srgbClr val="F6F2EA"/>
          </a:solidFill>
          <a:ln/>
          <a:effectLst>
            <a:outerShdw sx="100000" sy="100000" kx="0" ky="0" algn="bl" rotWithShape="0" blurRad="88900" dist="38100" dir="5400000">
              <a:srgbClr val="000000">
                <a:alpha val="16000"/>
              </a:srgbClr>
            </a:outerShdw>
          </a:effectLst>
        </p:spPr>
      </p:sp>
      <p:sp>
        <p:nvSpPr>
          <p:cNvPr id="5" name="Shape 3"/>
          <p:cNvSpPr/>
          <p:nvPr/>
        </p:nvSpPr>
        <p:spPr>
          <a:xfrm>
            <a:off x="804672" y="1828800"/>
            <a:ext cx="603504" cy="603504"/>
          </a:xfrm>
          <a:prstGeom prst="ellipse">
            <a:avLst/>
          </a:prstGeom>
          <a:solidFill>
            <a:srgbClr val="5C8A5A"/>
          </a:solidFill>
          <a:ln/>
        </p:spPr>
      </p:sp>
      <p:pic>
        <p:nvPicPr>
          <p:cNvPr id="6" name="Image 0" descr="preencoded.png">    </p:cNvPr>
          <p:cNvPicPr>
            <a:picLocks noChangeAspect="1"/>
          </p:cNvPicPr>
          <p:nvPr/>
        </p:nvPicPr>
        <p:blipFill>
          <a:blip r:embed="rId1"/>
          <a:stretch>
            <a:fillRect/>
          </a:stretch>
        </p:blipFill>
        <p:spPr>
          <a:xfrm>
            <a:off x="967618" y="1991746"/>
            <a:ext cx="277612" cy="277612"/>
          </a:xfrm>
          <a:prstGeom prst="rect">
            <a:avLst/>
          </a:prstGeom>
        </p:spPr>
      </p:pic>
      <p:sp>
        <p:nvSpPr>
          <p:cNvPr id="7" name="Text 4"/>
          <p:cNvSpPr/>
          <p:nvPr/>
        </p:nvSpPr>
        <p:spPr>
          <a:xfrm>
            <a:off x="777240" y="2542032"/>
            <a:ext cx="2103120" cy="502920"/>
          </a:xfrm>
          <a:prstGeom prst="rect">
            <a:avLst/>
          </a:prstGeom>
          <a:noFill/>
          <a:ln/>
        </p:spPr>
        <p:txBody>
          <a:bodyPr wrap="square" lIns="0" tIns="0" rIns="0" bIns="0" rtlCol="0" anchor="ctr"/>
          <a:lstStyle/>
          <a:p>
            <a:pPr indent="0" marL="0">
              <a:buNone/>
            </a:pPr>
            <a:r>
              <a:rPr lang="en-US" sz="1500" b="1" dirty="0">
                <a:solidFill>
                  <a:srgbClr val="33291F"/>
                </a:solidFill>
                <a:latin typeface="Cambria" pitchFamily="34" charset="0"/>
                <a:ea typeface="Cambria" pitchFamily="34" charset="-122"/>
                <a:cs typeface="Cambria" pitchFamily="34" charset="-120"/>
              </a:rPr>
              <a:t>Green building is booming</a:t>
            </a:r>
            <a:endParaRPr lang="en-US" sz="1500" dirty="0"/>
          </a:p>
        </p:txBody>
      </p:sp>
      <p:sp>
        <p:nvSpPr>
          <p:cNvPr id="8" name="Text 5"/>
          <p:cNvSpPr/>
          <p:nvPr/>
        </p:nvSpPr>
        <p:spPr>
          <a:xfrm>
            <a:off x="777240" y="3017520"/>
            <a:ext cx="2103120" cy="502920"/>
          </a:xfrm>
          <a:prstGeom prst="rect">
            <a:avLst/>
          </a:prstGeom>
          <a:noFill/>
          <a:ln/>
        </p:spPr>
        <p:txBody>
          <a:bodyPr wrap="square" lIns="0" tIns="0" rIns="0" bIns="0" rtlCol="0" anchor="ctr"/>
          <a:lstStyle/>
          <a:p>
            <a:pPr indent="0" marL="0">
              <a:buNone/>
            </a:pPr>
            <a:r>
              <a:rPr lang="en-US" sz="3000" b="1" dirty="0">
                <a:solidFill>
                  <a:srgbClr val="5C8A5A"/>
                </a:solidFill>
                <a:latin typeface="Cambria" pitchFamily="34" charset="0"/>
                <a:ea typeface="Cambria" pitchFamily="34" charset="-122"/>
                <a:cs typeface="Cambria" pitchFamily="34" charset="-120"/>
              </a:rPr>
              <a:t>$15.5B</a:t>
            </a:r>
            <a:endParaRPr lang="en-US" sz="3000" dirty="0"/>
          </a:p>
        </p:txBody>
      </p:sp>
      <p:sp>
        <p:nvSpPr>
          <p:cNvPr id="9" name="Text 6"/>
          <p:cNvSpPr/>
          <p:nvPr/>
        </p:nvSpPr>
        <p:spPr>
          <a:xfrm>
            <a:off x="777240" y="3566160"/>
            <a:ext cx="2103120" cy="777240"/>
          </a:xfrm>
          <a:prstGeom prst="rect">
            <a:avLst/>
          </a:prstGeom>
          <a:noFill/>
          <a:ln/>
        </p:spPr>
        <p:txBody>
          <a:bodyPr wrap="square" lIns="0" tIns="0" rIns="0" bIns="0" rtlCol="0" anchor="ctr"/>
          <a:lstStyle/>
          <a:p>
            <a:pPr indent="0" marL="0">
              <a:buNone/>
            </a:pPr>
            <a:r>
              <a:rPr lang="en-US" sz="1050" dirty="0">
                <a:solidFill>
                  <a:srgbClr val="55493D"/>
                </a:solidFill>
                <a:latin typeface="Calibri" pitchFamily="34" charset="0"/>
                <a:ea typeface="Calibri" pitchFamily="34" charset="-122"/>
                <a:cs typeface="Calibri" pitchFamily="34" charset="-120"/>
              </a:rPr>
              <a:t>India green-materials market in 2025 → $32.2B by 2032 (11.3% CAGR). IGBC is headquartered in Hyderabad.</a:t>
            </a:r>
            <a:endParaRPr lang="en-US" sz="1050" dirty="0"/>
          </a:p>
        </p:txBody>
      </p:sp>
      <p:sp>
        <p:nvSpPr>
          <p:cNvPr id="10" name="Shape 7"/>
          <p:cNvSpPr/>
          <p:nvPr/>
        </p:nvSpPr>
        <p:spPr>
          <a:xfrm>
            <a:off x="3291840" y="1600200"/>
            <a:ext cx="2514600" cy="2788920"/>
          </a:xfrm>
          <a:prstGeom prst="roundRect">
            <a:avLst>
              <a:gd name="adj" fmla="val 3636"/>
            </a:avLst>
          </a:prstGeom>
          <a:solidFill>
            <a:srgbClr val="F6F2EA"/>
          </a:solidFill>
          <a:ln/>
          <a:effectLst>
            <a:outerShdw sx="100000" sy="100000" kx="0" ky="0" algn="bl" rotWithShape="0" blurRad="88900" dist="38100" dir="5400000">
              <a:srgbClr val="000000">
                <a:alpha val="16000"/>
              </a:srgbClr>
            </a:outerShdw>
          </a:effectLst>
        </p:spPr>
      </p:sp>
      <p:sp>
        <p:nvSpPr>
          <p:cNvPr id="11" name="Shape 8"/>
          <p:cNvSpPr/>
          <p:nvPr/>
        </p:nvSpPr>
        <p:spPr>
          <a:xfrm>
            <a:off x="3547872" y="1828800"/>
            <a:ext cx="603504" cy="603504"/>
          </a:xfrm>
          <a:prstGeom prst="ellipse">
            <a:avLst/>
          </a:prstGeom>
          <a:solidFill>
            <a:srgbClr val="B85042"/>
          </a:solidFill>
          <a:ln/>
        </p:spPr>
      </p:sp>
      <p:pic>
        <p:nvPicPr>
          <p:cNvPr id="12" name="Image 1" descr="preencoded.png">    </p:cNvPr>
          <p:cNvPicPr>
            <a:picLocks noChangeAspect="1"/>
          </p:cNvPicPr>
          <p:nvPr/>
        </p:nvPicPr>
        <p:blipFill>
          <a:blip r:embed="rId2"/>
          <a:stretch>
            <a:fillRect/>
          </a:stretch>
        </p:blipFill>
        <p:spPr>
          <a:xfrm>
            <a:off x="3710818" y="1991746"/>
            <a:ext cx="277612" cy="277612"/>
          </a:xfrm>
          <a:prstGeom prst="rect">
            <a:avLst/>
          </a:prstGeom>
        </p:spPr>
      </p:pic>
      <p:sp>
        <p:nvSpPr>
          <p:cNvPr id="13" name="Text 9"/>
          <p:cNvSpPr/>
          <p:nvPr/>
        </p:nvSpPr>
        <p:spPr>
          <a:xfrm>
            <a:off x="3520440" y="2542032"/>
            <a:ext cx="2103120" cy="502920"/>
          </a:xfrm>
          <a:prstGeom prst="rect">
            <a:avLst/>
          </a:prstGeom>
          <a:noFill/>
          <a:ln/>
        </p:spPr>
        <p:txBody>
          <a:bodyPr wrap="square" lIns="0" tIns="0" rIns="0" bIns="0" rtlCol="0" anchor="ctr"/>
          <a:lstStyle/>
          <a:p>
            <a:pPr indent="0" marL="0">
              <a:buNone/>
            </a:pPr>
            <a:r>
              <a:rPr lang="en-US" sz="1500" b="1" dirty="0">
                <a:solidFill>
                  <a:srgbClr val="33291F"/>
                </a:solidFill>
                <a:latin typeface="Cambria" pitchFamily="34" charset="0"/>
                <a:ea typeface="Cambria" pitchFamily="34" charset="-122"/>
                <a:cs typeface="Cambria" pitchFamily="34" charset="-120"/>
              </a:rPr>
              <a:t>Labour is getting scarce</a:t>
            </a:r>
            <a:endParaRPr lang="en-US" sz="1500" dirty="0"/>
          </a:p>
        </p:txBody>
      </p:sp>
      <p:sp>
        <p:nvSpPr>
          <p:cNvPr id="14" name="Text 10"/>
          <p:cNvSpPr/>
          <p:nvPr/>
        </p:nvSpPr>
        <p:spPr>
          <a:xfrm>
            <a:off x="3520440" y="3017520"/>
            <a:ext cx="2103120" cy="502920"/>
          </a:xfrm>
          <a:prstGeom prst="rect">
            <a:avLst/>
          </a:prstGeom>
          <a:noFill/>
          <a:ln/>
        </p:spPr>
        <p:txBody>
          <a:bodyPr wrap="square" lIns="0" tIns="0" rIns="0" bIns="0" rtlCol="0" anchor="ctr"/>
          <a:lstStyle/>
          <a:p>
            <a:pPr indent="0" marL="0">
              <a:buNone/>
            </a:pPr>
            <a:r>
              <a:rPr lang="en-US" sz="3000" b="1" dirty="0">
                <a:solidFill>
                  <a:srgbClr val="B85042"/>
                </a:solidFill>
                <a:latin typeface="Cambria" pitchFamily="34" charset="0"/>
                <a:ea typeface="Cambria" pitchFamily="34" charset="-122"/>
                <a:cs typeface="Cambria" pitchFamily="34" charset="-120"/>
              </a:rPr>
              <a:t>2 million</a:t>
            </a:r>
            <a:endParaRPr lang="en-US" sz="3000" dirty="0"/>
          </a:p>
        </p:txBody>
      </p:sp>
      <p:sp>
        <p:nvSpPr>
          <p:cNvPr id="15" name="Text 11"/>
          <p:cNvSpPr/>
          <p:nvPr/>
        </p:nvSpPr>
        <p:spPr>
          <a:xfrm>
            <a:off x="3520440" y="3566160"/>
            <a:ext cx="2103120" cy="777240"/>
          </a:xfrm>
          <a:prstGeom prst="rect">
            <a:avLst/>
          </a:prstGeom>
          <a:noFill/>
          <a:ln/>
        </p:spPr>
        <p:txBody>
          <a:bodyPr wrap="square" lIns="0" tIns="0" rIns="0" bIns="0" rtlCol="0" anchor="ctr"/>
          <a:lstStyle/>
          <a:p>
            <a:pPr indent="0" marL="0">
              <a:buNone/>
            </a:pPr>
            <a:r>
              <a:rPr lang="en-US" sz="1050" dirty="0">
                <a:solidFill>
                  <a:srgbClr val="55493D"/>
                </a:solidFill>
                <a:latin typeface="Calibri" pitchFamily="34" charset="0"/>
                <a:ea typeface="Calibri" pitchFamily="34" charset="-122"/>
                <a:cs typeface="Calibri" pitchFamily="34" charset="-120"/>
              </a:rPr>
              <a:t>skilled-worker shortage nationwide. Wages up 8–12% in a year — builders want products that cut on-site labour.</a:t>
            </a:r>
            <a:endParaRPr lang="en-US" sz="1050" dirty="0"/>
          </a:p>
        </p:txBody>
      </p:sp>
      <p:sp>
        <p:nvSpPr>
          <p:cNvPr id="16" name="Shape 12"/>
          <p:cNvSpPr/>
          <p:nvPr/>
        </p:nvSpPr>
        <p:spPr>
          <a:xfrm>
            <a:off x="6035040" y="1600200"/>
            <a:ext cx="2514600" cy="2788920"/>
          </a:xfrm>
          <a:prstGeom prst="roundRect">
            <a:avLst>
              <a:gd name="adj" fmla="val 3636"/>
            </a:avLst>
          </a:prstGeom>
          <a:solidFill>
            <a:srgbClr val="F6F2EA"/>
          </a:solidFill>
          <a:ln/>
          <a:effectLst>
            <a:outerShdw sx="100000" sy="100000" kx="0" ky="0" algn="bl" rotWithShape="0" blurRad="88900" dist="38100" dir="5400000">
              <a:srgbClr val="000000">
                <a:alpha val="16000"/>
              </a:srgbClr>
            </a:outerShdw>
          </a:effectLst>
        </p:spPr>
      </p:sp>
      <p:sp>
        <p:nvSpPr>
          <p:cNvPr id="17" name="Shape 13"/>
          <p:cNvSpPr/>
          <p:nvPr/>
        </p:nvSpPr>
        <p:spPr>
          <a:xfrm>
            <a:off x="6291072" y="1828800"/>
            <a:ext cx="603504" cy="603504"/>
          </a:xfrm>
          <a:prstGeom prst="ellipse">
            <a:avLst/>
          </a:prstGeom>
          <a:solidFill>
            <a:srgbClr val="D8A24A"/>
          </a:solidFill>
          <a:ln/>
        </p:spPr>
      </p:sp>
      <p:pic>
        <p:nvPicPr>
          <p:cNvPr id="18" name="Image 2" descr="preencoded.png">    </p:cNvPr>
          <p:cNvPicPr>
            <a:picLocks noChangeAspect="1"/>
          </p:cNvPicPr>
          <p:nvPr/>
        </p:nvPicPr>
        <p:blipFill>
          <a:blip r:embed="rId3"/>
          <a:stretch>
            <a:fillRect/>
          </a:stretch>
        </p:blipFill>
        <p:spPr>
          <a:xfrm>
            <a:off x="6454018" y="1991746"/>
            <a:ext cx="277612" cy="277612"/>
          </a:xfrm>
          <a:prstGeom prst="rect">
            <a:avLst/>
          </a:prstGeom>
        </p:spPr>
      </p:pic>
      <p:sp>
        <p:nvSpPr>
          <p:cNvPr id="19" name="Text 14"/>
          <p:cNvSpPr/>
          <p:nvPr/>
        </p:nvSpPr>
        <p:spPr>
          <a:xfrm>
            <a:off x="6263640" y="2542032"/>
            <a:ext cx="2103120" cy="502920"/>
          </a:xfrm>
          <a:prstGeom prst="rect">
            <a:avLst/>
          </a:prstGeom>
          <a:noFill/>
          <a:ln/>
        </p:spPr>
        <p:txBody>
          <a:bodyPr wrap="square" lIns="0" tIns="0" rIns="0" bIns="0" rtlCol="0" anchor="ctr"/>
          <a:lstStyle/>
          <a:p>
            <a:pPr indent="0" marL="0">
              <a:buNone/>
            </a:pPr>
            <a:r>
              <a:rPr lang="en-US" sz="1500" b="1" dirty="0">
                <a:solidFill>
                  <a:srgbClr val="33291F"/>
                </a:solidFill>
                <a:latin typeface="Cambria" pitchFamily="34" charset="0"/>
                <a:ea typeface="Cambria" pitchFamily="34" charset="-122"/>
                <a:cs typeface="Cambria" pitchFamily="34" charset="-120"/>
              </a:rPr>
              <a:t>Government is building</a:t>
            </a:r>
            <a:endParaRPr lang="en-US" sz="1500" dirty="0"/>
          </a:p>
        </p:txBody>
      </p:sp>
      <p:sp>
        <p:nvSpPr>
          <p:cNvPr id="20" name="Text 15"/>
          <p:cNvSpPr/>
          <p:nvPr/>
        </p:nvSpPr>
        <p:spPr>
          <a:xfrm>
            <a:off x="6263640" y="3017520"/>
            <a:ext cx="2103120" cy="502920"/>
          </a:xfrm>
          <a:prstGeom prst="rect">
            <a:avLst/>
          </a:prstGeom>
          <a:noFill/>
          <a:ln/>
        </p:spPr>
        <p:txBody>
          <a:bodyPr wrap="square" lIns="0" tIns="0" rIns="0" bIns="0" rtlCol="0" anchor="ctr"/>
          <a:lstStyle/>
          <a:p>
            <a:pPr indent="0" marL="0">
              <a:buNone/>
            </a:pPr>
            <a:r>
              <a:rPr lang="en-US" sz="3000" b="1" dirty="0">
                <a:solidFill>
                  <a:srgbClr val="D8A24A"/>
                </a:solidFill>
                <a:latin typeface="Cambria" pitchFamily="34" charset="0"/>
                <a:ea typeface="Cambria" pitchFamily="34" charset="-122"/>
                <a:cs typeface="Cambria" pitchFamily="34" charset="-120"/>
              </a:rPr>
              <a:t>1 crore</a:t>
            </a:r>
            <a:endParaRPr lang="en-US" sz="3000" dirty="0"/>
          </a:p>
        </p:txBody>
      </p:sp>
      <p:sp>
        <p:nvSpPr>
          <p:cNvPr id="21" name="Text 16"/>
          <p:cNvSpPr/>
          <p:nvPr/>
        </p:nvSpPr>
        <p:spPr>
          <a:xfrm>
            <a:off x="6263640" y="3566160"/>
            <a:ext cx="2103120" cy="777240"/>
          </a:xfrm>
          <a:prstGeom prst="rect">
            <a:avLst/>
          </a:prstGeom>
          <a:noFill/>
          <a:ln/>
        </p:spPr>
        <p:txBody>
          <a:bodyPr wrap="square" lIns="0" tIns="0" rIns="0" bIns="0" rtlCol="0" anchor="ctr"/>
          <a:lstStyle/>
          <a:p>
            <a:pPr indent="0" marL="0">
              <a:buNone/>
            </a:pPr>
            <a:r>
              <a:rPr lang="en-US" sz="1050" dirty="0">
                <a:solidFill>
                  <a:srgbClr val="55493D"/>
                </a:solidFill>
                <a:latin typeface="Calibri" pitchFamily="34" charset="0"/>
                <a:ea typeface="Calibri" pitchFamily="34" charset="-122"/>
                <a:cs typeface="Calibri" pitchFamily="34" charset="-120"/>
              </a:rPr>
              <a:t>homes targeted under PMAY-U 2.0 by 2029 — over 1 million already sanctioned. A decade of guaranteed demand.</a:t>
            </a:r>
            <a:endParaRPr lang="en-US" sz="1050" dirty="0"/>
          </a:p>
        </p:txBody>
      </p:sp>
      <p:sp>
        <p:nvSpPr>
          <p:cNvPr id="22" name="Text 17"/>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Sources: PS Market Research (green materials); GeoSquare &amp; AECORD (labour); PIB / Business Standard (PMAY-U 2.0).</a:t>
            </a:r>
            <a:endParaRPr lang="en-US" sz="800" dirty="0"/>
          </a:p>
        </p:txBody>
      </p:sp>
      <p:sp>
        <p:nvSpPr>
          <p:cNvPr id="23" name="Text 18"/>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2019"/>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D8A24A"/>
                </a:solidFill>
                <a:latin typeface="Calibri" pitchFamily="34" charset="0"/>
                <a:ea typeface="Calibri" pitchFamily="34" charset="-122"/>
                <a:cs typeface="Calibri" pitchFamily="34" charset="-120"/>
              </a:rPr>
              <a:t>MARKET SIZE</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vast market — we need only a sliver of it</a:t>
            </a:r>
            <a:endParaRPr lang="en-US" sz="2600" dirty="0"/>
          </a:p>
        </p:txBody>
      </p:sp>
      <p:sp>
        <p:nvSpPr>
          <p:cNvPr id="4" name="Shape 2"/>
          <p:cNvSpPr/>
          <p:nvPr/>
        </p:nvSpPr>
        <p:spPr>
          <a:xfrm>
            <a:off x="548640" y="1691640"/>
            <a:ext cx="7680960" cy="749808"/>
          </a:xfrm>
          <a:prstGeom prst="roundRect">
            <a:avLst>
              <a:gd name="adj" fmla="val 7317"/>
            </a:avLst>
          </a:prstGeom>
          <a:solidFill>
            <a:srgbClr val="B85042"/>
          </a:solidFill>
          <a:ln/>
        </p:spPr>
      </p:sp>
      <p:sp>
        <p:nvSpPr>
          <p:cNvPr id="5" name="Text 3"/>
          <p:cNvSpPr/>
          <p:nvPr/>
        </p:nvSpPr>
        <p:spPr>
          <a:xfrm>
            <a:off x="731520" y="1691640"/>
            <a:ext cx="1005840" cy="74980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TAM</a:t>
            </a:r>
            <a:endParaRPr lang="en-US" sz="2200" dirty="0"/>
          </a:p>
        </p:txBody>
      </p:sp>
      <p:sp>
        <p:nvSpPr>
          <p:cNvPr id="6" name="Text 4"/>
          <p:cNvSpPr/>
          <p:nvPr/>
        </p:nvSpPr>
        <p:spPr>
          <a:xfrm>
            <a:off x="1691640" y="1691640"/>
            <a:ext cx="2377440" cy="74980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₹2,800 Cr / yr</a:t>
            </a:r>
            <a:endParaRPr lang="en-US" sz="1800" dirty="0"/>
          </a:p>
        </p:txBody>
      </p:sp>
      <p:sp>
        <p:nvSpPr>
          <p:cNvPr id="7" name="Text 5"/>
          <p:cNvSpPr/>
          <p:nvPr/>
        </p:nvSpPr>
        <p:spPr>
          <a:xfrm>
            <a:off x="4114800" y="1691640"/>
            <a:ext cx="4069080" cy="749808"/>
          </a:xfrm>
          <a:prstGeom prst="rect">
            <a:avLst/>
          </a:prstGeom>
          <a:noFill/>
          <a:ln/>
        </p:spPr>
        <p:txBody>
          <a:bodyPr wrap="square" lIns="0" tIns="0" rIns="0" bIns="0" rtlCol="0" anchor="ctr"/>
          <a:lstStyle/>
          <a:p>
            <a:pPr indent="0" marL="0">
              <a:buNone/>
            </a:pPr>
            <a:r>
              <a:rPr lang="en-US" sz="1150" dirty="0">
                <a:solidFill>
                  <a:srgbClr val="F3E7E2"/>
                </a:solidFill>
                <a:latin typeface="Calibri" pitchFamily="34" charset="0"/>
                <a:ea typeface="Calibri" pitchFamily="34" charset="-122"/>
                <a:cs typeface="Calibri" pitchFamily="34" charset="-120"/>
              </a:rPr>
              <a:t>All brick demand in Telangana</a:t>
            </a:r>
            <a:endParaRPr lang="en-US" sz="1150" dirty="0"/>
          </a:p>
        </p:txBody>
      </p:sp>
      <p:sp>
        <p:nvSpPr>
          <p:cNvPr id="8" name="Shape 6"/>
          <p:cNvSpPr/>
          <p:nvPr/>
        </p:nvSpPr>
        <p:spPr>
          <a:xfrm>
            <a:off x="548640" y="2606040"/>
            <a:ext cx="5120640" cy="749808"/>
          </a:xfrm>
          <a:prstGeom prst="roundRect">
            <a:avLst>
              <a:gd name="adj" fmla="val 7317"/>
            </a:avLst>
          </a:prstGeom>
          <a:solidFill>
            <a:srgbClr val="8F3D31"/>
          </a:solidFill>
          <a:ln/>
        </p:spPr>
      </p:sp>
      <p:sp>
        <p:nvSpPr>
          <p:cNvPr id="9" name="Text 7"/>
          <p:cNvSpPr/>
          <p:nvPr/>
        </p:nvSpPr>
        <p:spPr>
          <a:xfrm>
            <a:off x="731520" y="2606040"/>
            <a:ext cx="1005840" cy="74980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SAM</a:t>
            </a:r>
            <a:endParaRPr lang="en-US" sz="2200" dirty="0"/>
          </a:p>
        </p:txBody>
      </p:sp>
      <p:sp>
        <p:nvSpPr>
          <p:cNvPr id="10" name="Text 8"/>
          <p:cNvSpPr/>
          <p:nvPr/>
        </p:nvSpPr>
        <p:spPr>
          <a:xfrm>
            <a:off x="1691640" y="2606040"/>
            <a:ext cx="2377440" cy="74980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₹840 Cr / yr</a:t>
            </a:r>
            <a:endParaRPr lang="en-US" sz="1800" dirty="0"/>
          </a:p>
        </p:txBody>
      </p:sp>
      <p:sp>
        <p:nvSpPr>
          <p:cNvPr id="11" name="Text 9"/>
          <p:cNvSpPr/>
          <p:nvPr/>
        </p:nvSpPr>
        <p:spPr>
          <a:xfrm>
            <a:off x="4114800" y="2606040"/>
            <a:ext cx="1508760" cy="749808"/>
          </a:xfrm>
          <a:prstGeom prst="rect">
            <a:avLst/>
          </a:prstGeom>
          <a:noFill/>
          <a:ln/>
        </p:spPr>
        <p:txBody>
          <a:bodyPr wrap="square" lIns="0" tIns="0" rIns="0" bIns="0" rtlCol="0" anchor="ctr"/>
          <a:lstStyle/>
          <a:p>
            <a:pPr indent="0" marL="0">
              <a:buNone/>
            </a:pPr>
            <a:r>
              <a:rPr lang="en-US" sz="1150" dirty="0">
                <a:solidFill>
                  <a:srgbClr val="F3E7E2"/>
                </a:solidFill>
                <a:latin typeface="Calibri" pitchFamily="34" charset="0"/>
                <a:ea typeface="Calibri" pitchFamily="34" charset="-122"/>
                <a:cs typeface="Calibri" pitchFamily="34" charset="-120"/>
              </a:rPr>
              <a:t>Ranga Reddy + 4 adjacent districts</a:t>
            </a:r>
            <a:endParaRPr lang="en-US" sz="1150" dirty="0"/>
          </a:p>
        </p:txBody>
      </p:sp>
      <p:sp>
        <p:nvSpPr>
          <p:cNvPr id="12" name="Shape 10"/>
          <p:cNvSpPr/>
          <p:nvPr/>
        </p:nvSpPr>
        <p:spPr>
          <a:xfrm>
            <a:off x="548640" y="3520440"/>
            <a:ext cx="2651760" cy="749808"/>
          </a:xfrm>
          <a:prstGeom prst="roundRect">
            <a:avLst>
              <a:gd name="adj" fmla="val 7317"/>
            </a:avLst>
          </a:prstGeom>
          <a:solidFill>
            <a:srgbClr val="5C8A5A"/>
          </a:solidFill>
          <a:ln/>
        </p:spPr>
      </p:sp>
      <p:sp>
        <p:nvSpPr>
          <p:cNvPr id="13" name="Text 11"/>
          <p:cNvSpPr/>
          <p:nvPr/>
        </p:nvSpPr>
        <p:spPr>
          <a:xfrm>
            <a:off x="731520" y="3520440"/>
            <a:ext cx="1005840" cy="74980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SOM</a:t>
            </a:r>
            <a:endParaRPr lang="en-US" sz="2200" dirty="0"/>
          </a:p>
        </p:txBody>
      </p:sp>
      <p:sp>
        <p:nvSpPr>
          <p:cNvPr id="14" name="Text 12"/>
          <p:cNvSpPr/>
          <p:nvPr/>
        </p:nvSpPr>
        <p:spPr>
          <a:xfrm>
            <a:off x="1691640" y="3520440"/>
            <a:ext cx="2377440" cy="74980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₹2.9 Cr / yr</a:t>
            </a:r>
            <a:endParaRPr lang="en-US" sz="1800" dirty="0"/>
          </a:p>
        </p:txBody>
      </p:sp>
      <p:sp>
        <p:nvSpPr>
          <p:cNvPr id="15" name="Text 13"/>
          <p:cNvSpPr/>
          <p:nvPr/>
        </p:nvSpPr>
        <p:spPr>
          <a:xfrm>
            <a:off x="4114800" y="3520440"/>
            <a:ext cx="3840480" cy="749808"/>
          </a:xfrm>
          <a:prstGeom prst="rect">
            <a:avLst/>
          </a:prstGeom>
          <a:noFill/>
          <a:ln/>
        </p:spPr>
        <p:txBody>
          <a:bodyPr wrap="square" lIns="0" tIns="0" rIns="0" bIns="0" rtlCol="0" anchor="ctr"/>
          <a:lstStyle/>
          <a:p>
            <a:pPr indent="0" marL="0">
              <a:buNone/>
            </a:pPr>
            <a:r>
              <a:rPr lang="en-US" sz="1150" dirty="0">
                <a:solidFill>
                  <a:srgbClr val="EAF2EA"/>
                </a:solidFill>
                <a:latin typeface="Calibri" pitchFamily="34" charset="0"/>
                <a:ea typeface="Calibri" pitchFamily="34" charset="-122"/>
                <a:cs typeface="Calibri" pitchFamily="34" charset="-120"/>
              </a:rPr>
              <a:t>Our Year-3 target — just 0.35% of SAM</a:t>
            </a:r>
            <a:endParaRPr lang="en-US" sz="1150" dirty="0"/>
          </a:p>
        </p:txBody>
      </p:sp>
      <p:sp>
        <p:nvSpPr>
          <p:cNvPr id="16" name="Text 14"/>
          <p:cNvSpPr/>
          <p:nvPr/>
        </p:nvSpPr>
        <p:spPr>
          <a:xfrm>
            <a:off x="548640" y="4526280"/>
            <a:ext cx="8229600" cy="365760"/>
          </a:xfrm>
          <a:prstGeom prst="rect">
            <a:avLst/>
          </a:prstGeom>
          <a:noFill/>
          <a:ln/>
        </p:spPr>
        <p:txBody>
          <a:bodyPr wrap="square" lIns="0" tIns="0" rIns="0" bIns="0" rtlCol="0" anchor="ctr"/>
          <a:lstStyle/>
          <a:p>
            <a:pPr indent="0" marL="0">
              <a:buNone/>
            </a:pPr>
            <a:r>
              <a:rPr lang="en-US" sz="1150" b="1" i="1" dirty="0">
                <a:solidFill>
                  <a:srgbClr val="D8A24A"/>
                </a:solidFill>
                <a:latin typeface="Calibri" pitchFamily="34" charset="0"/>
                <a:ea typeface="Calibri" pitchFamily="34" charset="-122"/>
                <a:cs typeface="Calibri" pitchFamily="34" charset="-120"/>
              </a:rPr>
              <a:t>Context:  </a:t>
            </a:r>
            <a:pPr indent="0" marL="0">
              <a:buNone/>
            </a:pPr>
            <a:r>
              <a:rPr lang="en-US" sz="1150" i="1" dirty="0">
                <a:solidFill>
                  <a:srgbClr val="EDE7D9"/>
                </a:solidFill>
                <a:latin typeface="Calibri" pitchFamily="34" charset="0"/>
                <a:ea typeface="Calibri" pitchFamily="34" charset="-122"/>
                <a:cs typeface="Calibri" pitchFamily="34" charset="-120"/>
              </a:rPr>
              <a:t>India produces ~150 billion bricks a year; its construction sector is worth ₹25.3 trillion and growing 11%+.</a:t>
            </a:r>
            <a:endParaRPr lang="en-US" sz="1150" dirty="0"/>
          </a:p>
        </p:txBody>
      </p:sp>
      <p:sp>
        <p:nvSpPr>
          <p:cNvPr id="17" name="Text 15"/>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Sources: Market Growth Reports (~150B bricks); ResearchAndMarkets (₹25.3T construction). TAM/SAM/SOM are founder estimates.</a:t>
            </a:r>
            <a:endParaRPr lang="en-US" sz="800" dirty="0"/>
          </a:p>
        </p:txBody>
      </p:sp>
      <p:sp>
        <p:nvSpPr>
          <p:cNvPr id="18" name="Text 16"/>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LOCATION STRATEGY</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We scored all 31 districts. Ranga Reddy ranked #1.</a:t>
            </a:r>
            <a:endParaRPr lang="en-US" sz="2500" dirty="0"/>
          </a:p>
        </p:txBody>
      </p:sp>
      <p:graphicFrame>
        <p:nvGraphicFramePr>
          <p:cNvPr id="4" name="Chart 0" descr=""/>
          <p:cNvGraphicFramePr/>
          <p:nvPr/>
        </p:nvGraphicFramePr>
        <p:xfrm>
          <a:off x="457200" y="1508760"/>
          <a:ext cx="493776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23560" y="1508760"/>
            <a:ext cx="3063240" cy="3108960"/>
          </a:xfrm>
          <a:prstGeom prst="roundRect">
            <a:avLst>
              <a:gd name="adj" fmla="val 2985"/>
            </a:avLst>
          </a:prstGeom>
          <a:solidFill>
            <a:srgbClr val="F6F2EA"/>
          </a:solidFill>
          <a:ln/>
          <a:effectLst>
            <a:outerShdw sx="100000" sy="100000" kx="0" ky="0" algn="bl" rotWithShape="0" blurRad="88900" dist="38100" dir="5400000">
              <a:srgbClr val="000000">
                <a:alpha val="16000"/>
              </a:srgbClr>
            </a:outerShdw>
          </a:effectLst>
        </p:spPr>
      </p:sp>
      <p:sp>
        <p:nvSpPr>
          <p:cNvPr id="6" name="Shape 3"/>
          <p:cNvSpPr/>
          <p:nvPr/>
        </p:nvSpPr>
        <p:spPr>
          <a:xfrm>
            <a:off x="5897880" y="1737360"/>
            <a:ext cx="548640" cy="548640"/>
          </a:xfrm>
          <a:prstGeom prst="ellipse">
            <a:avLst/>
          </a:prstGeom>
          <a:solidFill>
            <a:srgbClr val="B85042"/>
          </a:solidFill>
          <a:ln/>
        </p:spPr>
      </p:sp>
      <p:pic>
        <p:nvPicPr>
          <p:cNvPr id="7" name="Image 0" descr="preencoded.png">    </p:cNvPr>
          <p:cNvPicPr>
            <a:picLocks noChangeAspect="1"/>
          </p:cNvPicPr>
          <p:nvPr/>
        </p:nvPicPr>
        <p:blipFill>
          <a:blip r:embed="rId2"/>
          <a:stretch>
            <a:fillRect/>
          </a:stretch>
        </p:blipFill>
        <p:spPr>
          <a:xfrm>
            <a:off x="6046013" y="1885493"/>
            <a:ext cx="252374" cy="252374"/>
          </a:xfrm>
          <a:prstGeom prst="rect">
            <a:avLst/>
          </a:prstGeom>
        </p:spPr>
      </p:pic>
      <p:sp>
        <p:nvSpPr>
          <p:cNvPr id="8" name="Text 4"/>
          <p:cNvSpPr/>
          <p:nvPr/>
        </p:nvSpPr>
        <p:spPr>
          <a:xfrm>
            <a:off x="6537960" y="1737360"/>
            <a:ext cx="2011680" cy="320040"/>
          </a:xfrm>
          <a:prstGeom prst="rect">
            <a:avLst/>
          </a:prstGeom>
          <a:noFill/>
          <a:ln/>
        </p:spPr>
        <p:txBody>
          <a:bodyPr wrap="square" lIns="0" tIns="0" rIns="0" bIns="0" rtlCol="0" anchor="ctr"/>
          <a:lstStyle/>
          <a:p>
            <a:pPr indent="0" marL="0">
              <a:buNone/>
            </a:pPr>
            <a:r>
              <a:rPr lang="en-US" sz="1800" b="1" dirty="0">
                <a:solidFill>
                  <a:srgbClr val="33291F"/>
                </a:solidFill>
                <a:latin typeface="Cambria" pitchFamily="34" charset="0"/>
                <a:ea typeface="Cambria" pitchFamily="34" charset="-122"/>
                <a:cs typeface="Cambria" pitchFamily="34" charset="-120"/>
              </a:rPr>
              <a:t>Ranga Reddy</a:t>
            </a:r>
            <a:endParaRPr lang="en-US" sz="1800" dirty="0"/>
          </a:p>
        </p:txBody>
      </p:sp>
      <p:sp>
        <p:nvSpPr>
          <p:cNvPr id="9" name="Text 5"/>
          <p:cNvSpPr/>
          <p:nvPr/>
        </p:nvSpPr>
        <p:spPr>
          <a:xfrm>
            <a:off x="6537960" y="2057400"/>
            <a:ext cx="2011680" cy="274320"/>
          </a:xfrm>
          <a:prstGeom prst="rect">
            <a:avLst/>
          </a:prstGeom>
          <a:noFill/>
          <a:ln/>
        </p:spPr>
        <p:txBody>
          <a:bodyPr wrap="square" lIns="0" tIns="0" rIns="0" bIns="0" rtlCol="0" anchor="ctr"/>
          <a:lstStyle/>
          <a:p>
            <a:pPr indent="0" marL="0">
              <a:buNone/>
            </a:pPr>
            <a:r>
              <a:rPr lang="en-US" sz="1100" b="1" dirty="0">
                <a:solidFill>
                  <a:srgbClr val="B85042"/>
                </a:solidFill>
                <a:latin typeface="Calibri" pitchFamily="34" charset="0"/>
                <a:ea typeface="Calibri" pitchFamily="34" charset="-122"/>
                <a:cs typeface="Calibri" pitchFamily="34" charset="-120"/>
              </a:rPr>
              <a:t>#1 of 31 districts</a:t>
            </a:r>
            <a:endParaRPr lang="en-US" sz="1100" dirty="0"/>
          </a:p>
        </p:txBody>
      </p:sp>
      <p:sp>
        <p:nvSpPr>
          <p:cNvPr id="10" name="Text 6"/>
          <p:cNvSpPr/>
          <p:nvPr/>
        </p:nvSpPr>
        <p:spPr>
          <a:xfrm>
            <a:off x="5897880" y="2487168"/>
            <a:ext cx="2606040" cy="457200"/>
          </a:xfrm>
          <a:prstGeom prst="rect">
            <a:avLst/>
          </a:prstGeom>
          <a:noFill/>
          <a:ln/>
        </p:spPr>
        <p:txBody>
          <a:bodyPr wrap="square" lIns="0" tIns="0" rIns="0" bIns="0" rtlCol="0" anchor="ctr"/>
          <a:lstStyle/>
          <a:p>
            <a:pPr indent="0" marL="0">
              <a:buNone/>
            </a:pPr>
            <a:r>
              <a:rPr lang="en-US" sz="1080" b="1" dirty="0">
                <a:solidFill>
                  <a:srgbClr val="8F3D31"/>
                </a:solidFill>
                <a:latin typeface="Calibri" pitchFamily="34" charset="0"/>
                <a:ea typeface="Calibri" pitchFamily="34" charset="-122"/>
                <a:cs typeface="Calibri" pitchFamily="34" charset="-120"/>
              </a:rPr>
              <a:t>13.4 lakh  </a:t>
            </a:r>
            <a:pPr indent="0" marL="0">
              <a:buNone/>
            </a:pPr>
            <a:r>
              <a:rPr lang="en-US" sz="1080" dirty="0">
                <a:solidFill>
                  <a:srgbClr val="55493D"/>
                </a:solidFill>
                <a:latin typeface="Calibri" pitchFamily="34" charset="0"/>
                <a:ea typeface="Calibri" pitchFamily="34" charset="-122"/>
                <a:cs typeface="Calibri" pitchFamily="34" charset="-120"/>
              </a:rPr>
              <a:t>households — the largest base in Telangana</a:t>
            </a:r>
            <a:endParaRPr lang="en-US" sz="1080" dirty="0"/>
          </a:p>
        </p:txBody>
      </p:sp>
      <p:sp>
        <p:nvSpPr>
          <p:cNvPr id="11" name="Text 7"/>
          <p:cNvSpPr/>
          <p:nvPr/>
        </p:nvSpPr>
        <p:spPr>
          <a:xfrm>
            <a:off x="5897880" y="3008376"/>
            <a:ext cx="2606040" cy="457200"/>
          </a:xfrm>
          <a:prstGeom prst="rect">
            <a:avLst/>
          </a:prstGeom>
          <a:noFill/>
          <a:ln/>
        </p:spPr>
        <p:txBody>
          <a:bodyPr wrap="square" lIns="0" tIns="0" rIns="0" bIns="0" rtlCol="0" anchor="ctr"/>
          <a:lstStyle/>
          <a:p>
            <a:pPr indent="0" marL="0">
              <a:buNone/>
            </a:pPr>
            <a:r>
              <a:rPr lang="en-US" sz="1080" b="1" dirty="0">
                <a:solidFill>
                  <a:srgbClr val="8F3D31"/>
                </a:solidFill>
                <a:latin typeface="Calibri" pitchFamily="34" charset="0"/>
                <a:ea typeface="Calibri" pitchFamily="34" charset="-122"/>
                <a:cs typeface="Calibri" pitchFamily="34" charset="-120"/>
              </a:rPr>
              <a:t>Only 6  </a:t>
            </a:r>
            <a:pPr indent="0" marL="0">
              <a:buNone/>
            </a:pPr>
            <a:r>
              <a:rPr lang="en-US" sz="1080" dirty="0">
                <a:solidFill>
                  <a:srgbClr val="55493D"/>
                </a:solidFill>
                <a:latin typeface="Calibri" pitchFamily="34" charset="0"/>
                <a:ea typeface="Calibri" pitchFamily="34" charset="-122"/>
                <a:cs typeface="Calibri" pitchFamily="34" charset="-120"/>
              </a:rPr>
              <a:t>brick factories serving them — under-supplied</a:t>
            </a:r>
            <a:endParaRPr lang="en-US" sz="1080" dirty="0"/>
          </a:p>
        </p:txBody>
      </p:sp>
      <p:sp>
        <p:nvSpPr>
          <p:cNvPr id="12" name="Text 8"/>
          <p:cNvSpPr/>
          <p:nvPr/>
        </p:nvSpPr>
        <p:spPr>
          <a:xfrm>
            <a:off x="5897880" y="3529584"/>
            <a:ext cx="2606040" cy="457200"/>
          </a:xfrm>
          <a:prstGeom prst="rect">
            <a:avLst/>
          </a:prstGeom>
          <a:noFill/>
          <a:ln/>
        </p:spPr>
        <p:txBody>
          <a:bodyPr wrap="square" lIns="0" tIns="0" rIns="0" bIns="0" rtlCol="0" anchor="ctr"/>
          <a:lstStyle/>
          <a:p>
            <a:pPr indent="0" marL="0">
              <a:buNone/>
            </a:pPr>
            <a:r>
              <a:rPr lang="en-US" sz="1080" b="1" dirty="0">
                <a:solidFill>
                  <a:srgbClr val="8F3D31"/>
                </a:solidFill>
                <a:latin typeface="Calibri" pitchFamily="34" charset="0"/>
                <a:ea typeface="Calibri" pitchFamily="34" charset="-122"/>
                <a:cs typeface="Calibri" pitchFamily="34" charset="-120"/>
              </a:rPr>
              <a:t>Hyderabad  </a:t>
            </a:r>
            <a:pPr indent="0" marL="0">
              <a:buNone/>
            </a:pPr>
            <a:r>
              <a:rPr lang="en-US" sz="1080" dirty="0">
                <a:solidFill>
                  <a:srgbClr val="55493D"/>
                </a:solidFill>
                <a:latin typeface="Calibri" pitchFamily="34" charset="0"/>
                <a:ea typeface="Calibri" pitchFamily="34" charset="-122"/>
                <a:cs typeface="Calibri" pitchFamily="34" charset="-120"/>
              </a:rPr>
              <a:t>on the doorstep — 30% of state construction</a:t>
            </a:r>
            <a:endParaRPr lang="en-US" sz="1080" dirty="0"/>
          </a:p>
        </p:txBody>
      </p:sp>
      <p:sp>
        <p:nvSpPr>
          <p:cNvPr id="13" name="Text 9"/>
          <p:cNvSpPr/>
          <p:nvPr/>
        </p:nvSpPr>
        <p:spPr>
          <a:xfrm>
            <a:off x="5897880" y="4050792"/>
            <a:ext cx="2606040" cy="457200"/>
          </a:xfrm>
          <a:prstGeom prst="rect">
            <a:avLst/>
          </a:prstGeom>
          <a:noFill/>
          <a:ln/>
        </p:spPr>
        <p:txBody>
          <a:bodyPr wrap="square" lIns="0" tIns="0" rIns="0" bIns="0" rtlCol="0" anchor="ctr"/>
          <a:lstStyle/>
          <a:p>
            <a:pPr indent="0" marL="0">
              <a:buNone/>
            </a:pPr>
            <a:r>
              <a:rPr lang="en-US" sz="1080" b="1" dirty="0">
                <a:solidFill>
                  <a:srgbClr val="8F3D31"/>
                </a:solidFill>
                <a:latin typeface="Calibri" pitchFamily="34" charset="0"/>
                <a:ea typeface="Calibri" pitchFamily="34" charset="-122"/>
                <a:cs typeface="Calibri" pitchFamily="34" charset="-120"/>
              </a:rPr>
              <a:t>NH-44 / 65  </a:t>
            </a:r>
            <a:pPr indent="0" marL="0">
              <a:buNone/>
            </a:pPr>
            <a:r>
              <a:rPr lang="en-US" sz="1080" dirty="0">
                <a:solidFill>
                  <a:srgbClr val="55493D"/>
                </a:solidFill>
                <a:latin typeface="Calibri" pitchFamily="34" charset="0"/>
                <a:ea typeface="Calibri" pitchFamily="34" charset="-122"/>
                <a:cs typeface="Calibri" pitchFamily="34" charset="-120"/>
              </a:rPr>
              <a:t>highway access to every district &lt; 2 hrs</a:t>
            </a:r>
            <a:endParaRPr lang="en-US" sz="1080" dirty="0"/>
          </a:p>
        </p:txBody>
      </p:sp>
      <p:sp>
        <p:nvSpPr>
          <p:cNvPr id="14" name="Text 10"/>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 TerraBlock 7-factor location model (demand, competition, modern gap, eco gap, stability, raw material).</a:t>
            </a:r>
            <a:endParaRPr lang="en-US" sz="800" dirty="0"/>
          </a:p>
        </p:txBody>
      </p:sp>
      <p:sp>
        <p:nvSpPr>
          <p:cNvPr id="15" name="Text 11"/>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COMPETITION</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The shelf is empty — and stays empty for 18 months</a:t>
            </a:r>
            <a:endParaRPr lang="en-US" sz="2500" dirty="0"/>
          </a:p>
        </p:txBody>
      </p:sp>
      <p:sp>
        <p:nvSpPr>
          <p:cNvPr id="4" name="Text 2"/>
          <p:cNvSpPr/>
          <p:nvPr/>
        </p:nvSpPr>
        <p:spPr>
          <a:xfrm>
            <a:off x="548640" y="1508760"/>
            <a:ext cx="3931920" cy="320040"/>
          </a:xfrm>
          <a:prstGeom prst="rect">
            <a:avLst/>
          </a:prstGeom>
          <a:noFill/>
          <a:ln/>
        </p:spPr>
        <p:txBody>
          <a:bodyPr wrap="square" lIns="0" tIns="0" rIns="0" bIns="0" rtlCol="0" anchor="ctr"/>
          <a:lstStyle/>
          <a:p>
            <a:pPr indent="0" marL="0">
              <a:buNone/>
            </a:pPr>
            <a:r>
              <a:rPr lang="en-US" sz="1400" b="1" dirty="0">
                <a:solidFill>
                  <a:srgbClr val="8F3D31"/>
                </a:solidFill>
                <a:latin typeface="Cambria" pitchFamily="34" charset="0"/>
                <a:ea typeface="Cambria" pitchFamily="34" charset="-122"/>
                <a:cs typeface="Cambria" pitchFamily="34" charset="-120"/>
              </a:rPr>
              <a:t>What the 355 factories actually make</a:t>
            </a:r>
            <a:endParaRPr lang="en-US" sz="1400" dirty="0"/>
          </a:p>
        </p:txBody>
      </p:sp>
      <p:sp>
        <p:nvSpPr>
          <p:cNvPr id="5" name="Shape 3"/>
          <p:cNvSpPr/>
          <p:nvPr/>
        </p:nvSpPr>
        <p:spPr>
          <a:xfrm>
            <a:off x="548640" y="1920240"/>
            <a:ext cx="3931920" cy="475488"/>
          </a:xfrm>
          <a:prstGeom prst="roundRect">
            <a:avLst>
              <a:gd name="adj" fmla="val 11538"/>
            </a:avLst>
          </a:prstGeom>
          <a:solidFill>
            <a:srgbClr val="F6F2EA"/>
          </a:solidFill>
          <a:ln/>
        </p:spPr>
      </p:sp>
      <p:sp>
        <p:nvSpPr>
          <p:cNvPr id="6" name="Text 4"/>
          <p:cNvSpPr/>
          <p:nvPr/>
        </p:nvSpPr>
        <p:spPr>
          <a:xfrm>
            <a:off x="685800" y="1920240"/>
            <a:ext cx="822960" cy="475488"/>
          </a:xfrm>
          <a:prstGeom prst="rect">
            <a:avLst/>
          </a:prstGeom>
          <a:noFill/>
          <a:ln/>
        </p:spPr>
        <p:txBody>
          <a:bodyPr wrap="square" lIns="0" tIns="0" rIns="0" bIns="0" rtlCol="0" anchor="ctr"/>
          <a:lstStyle/>
          <a:p>
            <a:pPr algn="ctr" indent="0" marL="0">
              <a:buNone/>
            </a:pPr>
            <a:r>
              <a:rPr lang="en-US" sz="2000" b="1" dirty="0">
                <a:solidFill>
                  <a:srgbClr val="B7AC9C"/>
                </a:solidFill>
                <a:latin typeface="Cambria" pitchFamily="34" charset="0"/>
                <a:ea typeface="Cambria" pitchFamily="34" charset="-122"/>
                <a:cs typeface="Cambria" pitchFamily="34" charset="-120"/>
              </a:rPr>
              <a:t>198</a:t>
            </a:r>
            <a:endParaRPr lang="en-US" sz="2000" dirty="0"/>
          </a:p>
        </p:txBody>
      </p:sp>
      <p:sp>
        <p:nvSpPr>
          <p:cNvPr id="7" name="Text 5"/>
          <p:cNvSpPr/>
          <p:nvPr/>
        </p:nvSpPr>
        <p:spPr>
          <a:xfrm>
            <a:off x="1600200" y="1920240"/>
            <a:ext cx="2743200" cy="475488"/>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hand-made (clay &amp; fly ash)</a:t>
            </a:r>
            <a:endParaRPr lang="en-US" sz="1200" dirty="0"/>
          </a:p>
        </p:txBody>
      </p:sp>
      <p:sp>
        <p:nvSpPr>
          <p:cNvPr id="8" name="Shape 6"/>
          <p:cNvSpPr/>
          <p:nvPr/>
        </p:nvSpPr>
        <p:spPr>
          <a:xfrm>
            <a:off x="548640" y="2487168"/>
            <a:ext cx="3931920" cy="475488"/>
          </a:xfrm>
          <a:prstGeom prst="roundRect">
            <a:avLst>
              <a:gd name="adj" fmla="val 11538"/>
            </a:avLst>
          </a:prstGeom>
          <a:solidFill>
            <a:srgbClr val="F6F2EA"/>
          </a:solidFill>
          <a:ln/>
        </p:spPr>
      </p:sp>
      <p:sp>
        <p:nvSpPr>
          <p:cNvPr id="9" name="Text 7"/>
          <p:cNvSpPr/>
          <p:nvPr/>
        </p:nvSpPr>
        <p:spPr>
          <a:xfrm>
            <a:off x="685800" y="2487168"/>
            <a:ext cx="822960" cy="475488"/>
          </a:xfrm>
          <a:prstGeom prst="rect">
            <a:avLst/>
          </a:prstGeom>
          <a:noFill/>
          <a:ln/>
        </p:spPr>
        <p:txBody>
          <a:bodyPr wrap="square" lIns="0" tIns="0" rIns="0" bIns="0" rtlCol="0" anchor="ctr"/>
          <a:lstStyle/>
          <a:p>
            <a:pPr algn="ctr" indent="0" marL="0">
              <a:buNone/>
            </a:pPr>
            <a:r>
              <a:rPr lang="en-US" sz="2000" b="1" dirty="0">
                <a:solidFill>
                  <a:srgbClr val="C98B6E"/>
                </a:solidFill>
                <a:latin typeface="Cambria" pitchFamily="34" charset="0"/>
                <a:ea typeface="Cambria" pitchFamily="34" charset="-122"/>
                <a:cs typeface="Cambria" pitchFamily="34" charset="-120"/>
              </a:rPr>
              <a:t>76</a:t>
            </a:r>
            <a:endParaRPr lang="en-US" sz="2000" dirty="0"/>
          </a:p>
        </p:txBody>
      </p:sp>
      <p:sp>
        <p:nvSpPr>
          <p:cNvPr id="10" name="Text 8"/>
          <p:cNvSpPr/>
          <p:nvPr/>
        </p:nvSpPr>
        <p:spPr>
          <a:xfrm>
            <a:off x="1600200" y="2487168"/>
            <a:ext cx="2743200" cy="475488"/>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semi-automatic fly ash</a:t>
            </a:r>
            <a:endParaRPr lang="en-US" sz="1200" dirty="0"/>
          </a:p>
        </p:txBody>
      </p:sp>
      <p:sp>
        <p:nvSpPr>
          <p:cNvPr id="11" name="Shape 9"/>
          <p:cNvSpPr/>
          <p:nvPr/>
        </p:nvSpPr>
        <p:spPr>
          <a:xfrm>
            <a:off x="548640" y="3054096"/>
            <a:ext cx="3931920" cy="475488"/>
          </a:xfrm>
          <a:prstGeom prst="roundRect">
            <a:avLst>
              <a:gd name="adj" fmla="val 11538"/>
            </a:avLst>
          </a:prstGeom>
          <a:solidFill>
            <a:srgbClr val="F6F2EA"/>
          </a:solidFill>
          <a:ln/>
        </p:spPr>
      </p:sp>
      <p:sp>
        <p:nvSpPr>
          <p:cNvPr id="12" name="Text 10"/>
          <p:cNvSpPr/>
          <p:nvPr/>
        </p:nvSpPr>
        <p:spPr>
          <a:xfrm>
            <a:off x="685800" y="3054096"/>
            <a:ext cx="822960" cy="475488"/>
          </a:xfrm>
          <a:prstGeom prst="rect">
            <a:avLst/>
          </a:prstGeom>
          <a:noFill/>
          <a:ln/>
        </p:spPr>
        <p:txBody>
          <a:bodyPr wrap="square" lIns="0" tIns="0" rIns="0" bIns="0" rtlCol="0" anchor="ctr"/>
          <a:lstStyle/>
          <a:p>
            <a:pPr algn="ctr" indent="0" marL="0">
              <a:buNone/>
            </a:pPr>
            <a:r>
              <a:rPr lang="en-US" sz="2000" b="1" dirty="0">
                <a:solidFill>
                  <a:srgbClr val="B85042"/>
                </a:solidFill>
                <a:latin typeface="Cambria" pitchFamily="34" charset="0"/>
                <a:ea typeface="Cambria" pitchFamily="34" charset="-122"/>
                <a:cs typeface="Cambria" pitchFamily="34" charset="-120"/>
              </a:rPr>
              <a:t>64</a:t>
            </a:r>
            <a:endParaRPr lang="en-US" sz="2000" dirty="0"/>
          </a:p>
        </p:txBody>
      </p:sp>
      <p:sp>
        <p:nvSpPr>
          <p:cNvPr id="13" name="Text 11"/>
          <p:cNvSpPr/>
          <p:nvPr/>
        </p:nvSpPr>
        <p:spPr>
          <a:xfrm>
            <a:off x="1600200" y="3054096"/>
            <a:ext cx="2743200" cy="475488"/>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fully-automatic fly ash</a:t>
            </a:r>
            <a:endParaRPr lang="en-US" sz="1200" dirty="0"/>
          </a:p>
        </p:txBody>
      </p:sp>
      <p:sp>
        <p:nvSpPr>
          <p:cNvPr id="14" name="Shape 12"/>
          <p:cNvSpPr/>
          <p:nvPr/>
        </p:nvSpPr>
        <p:spPr>
          <a:xfrm>
            <a:off x="548640" y="3621024"/>
            <a:ext cx="3931920" cy="475488"/>
          </a:xfrm>
          <a:prstGeom prst="roundRect">
            <a:avLst>
              <a:gd name="adj" fmla="val 11538"/>
            </a:avLst>
          </a:prstGeom>
          <a:solidFill>
            <a:srgbClr val="EEF4EE"/>
          </a:solidFill>
          <a:ln/>
        </p:spPr>
      </p:sp>
      <p:sp>
        <p:nvSpPr>
          <p:cNvPr id="15" name="Text 13"/>
          <p:cNvSpPr/>
          <p:nvPr/>
        </p:nvSpPr>
        <p:spPr>
          <a:xfrm>
            <a:off x="685800" y="3621024"/>
            <a:ext cx="822960" cy="475488"/>
          </a:xfrm>
          <a:prstGeom prst="rect">
            <a:avLst/>
          </a:prstGeom>
          <a:noFill/>
          <a:ln/>
        </p:spPr>
        <p:txBody>
          <a:bodyPr wrap="square" lIns="0" tIns="0" rIns="0" bIns="0" rtlCol="0" anchor="ctr"/>
          <a:lstStyle/>
          <a:p>
            <a:pPr algn="ctr" indent="0" marL="0">
              <a:buNone/>
            </a:pPr>
            <a:r>
              <a:rPr lang="en-US" sz="2000" b="1" dirty="0">
                <a:solidFill>
                  <a:srgbClr val="5C8A5A"/>
                </a:solidFill>
                <a:latin typeface="Cambria" pitchFamily="34" charset="0"/>
                <a:ea typeface="Cambria" pitchFamily="34" charset="-122"/>
                <a:cs typeface="Cambria" pitchFamily="34" charset="-120"/>
              </a:rPr>
              <a:t>0</a:t>
            </a:r>
            <a:endParaRPr lang="en-US" sz="2000" dirty="0"/>
          </a:p>
        </p:txBody>
      </p:sp>
      <p:sp>
        <p:nvSpPr>
          <p:cNvPr id="16" name="Text 14"/>
          <p:cNvSpPr/>
          <p:nvPr/>
        </p:nvSpPr>
        <p:spPr>
          <a:xfrm>
            <a:off x="1600200" y="3621024"/>
            <a:ext cx="2743200" cy="475488"/>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mud interlocking (CSEB)</a:t>
            </a:r>
            <a:endParaRPr lang="en-US" sz="1200" dirty="0"/>
          </a:p>
        </p:txBody>
      </p:sp>
      <p:sp>
        <p:nvSpPr>
          <p:cNvPr id="17" name="Text 15"/>
          <p:cNvSpPr/>
          <p:nvPr/>
        </p:nvSpPr>
        <p:spPr>
          <a:xfrm>
            <a:off x="4754880" y="1508760"/>
            <a:ext cx="3931920" cy="320040"/>
          </a:xfrm>
          <a:prstGeom prst="rect">
            <a:avLst/>
          </a:prstGeom>
          <a:noFill/>
          <a:ln/>
        </p:spPr>
        <p:txBody>
          <a:bodyPr wrap="square" lIns="0" tIns="0" rIns="0" bIns="0" rtlCol="0" anchor="ctr"/>
          <a:lstStyle/>
          <a:p>
            <a:pPr indent="0" marL="0">
              <a:buNone/>
            </a:pPr>
            <a:r>
              <a:rPr lang="en-US" sz="1400" b="1" dirty="0">
                <a:solidFill>
                  <a:srgbClr val="8F3D31"/>
                </a:solidFill>
                <a:latin typeface="Cambria" pitchFamily="34" charset="0"/>
                <a:ea typeface="Cambria" pitchFamily="34" charset="-122"/>
                <a:cs typeface="Cambria" pitchFamily="34" charset="-120"/>
              </a:rPr>
              <a:t>Why no one catches up quickly</a:t>
            </a:r>
            <a:endParaRPr lang="en-US" sz="1400" dirty="0"/>
          </a:p>
        </p:txBody>
      </p:sp>
      <p:sp>
        <p:nvSpPr>
          <p:cNvPr id="18" name="Shape 16"/>
          <p:cNvSpPr/>
          <p:nvPr/>
        </p:nvSpPr>
        <p:spPr>
          <a:xfrm>
            <a:off x="4754880" y="1938528"/>
            <a:ext cx="457200" cy="457200"/>
          </a:xfrm>
          <a:prstGeom prst="ellipse">
            <a:avLst/>
          </a:prstGeom>
          <a:solidFill>
            <a:srgbClr val="B85042"/>
          </a:solidFill>
          <a:ln/>
        </p:spPr>
      </p:sp>
      <p:pic>
        <p:nvPicPr>
          <p:cNvPr id="19" name="Image 0" descr="preencoded.png">    </p:cNvPr>
          <p:cNvPicPr>
            <a:picLocks noChangeAspect="1"/>
          </p:cNvPicPr>
          <p:nvPr/>
        </p:nvPicPr>
        <p:blipFill>
          <a:blip r:embed="rId1"/>
          <a:stretch>
            <a:fillRect/>
          </a:stretch>
        </p:blipFill>
        <p:spPr>
          <a:xfrm>
            <a:off x="4878324" y="2061972"/>
            <a:ext cx="210312" cy="210312"/>
          </a:xfrm>
          <a:prstGeom prst="rect">
            <a:avLst/>
          </a:prstGeom>
        </p:spPr>
      </p:pic>
      <p:sp>
        <p:nvSpPr>
          <p:cNvPr id="20" name="Text 17"/>
          <p:cNvSpPr/>
          <p:nvPr/>
        </p:nvSpPr>
        <p:spPr>
          <a:xfrm>
            <a:off x="5349240" y="1901952"/>
            <a:ext cx="3337560" cy="54864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BIS + IGBC certification takes 9–12 months to earn</a:t>
            </a:r>
            <a:endParaRPr lang="en-US" sz="1150" dirty="0"/>
          </a:p>
        </p:txBody>
      </p:sp>
      <p:sp>
        <p:nvSpPr>
          <p:cNvPr id="21" name="Shape 18"/>
          <p:cNvSpPr/>
          <p:nvPr/>
        </p:nvSpPr>
        <p:spPr>
          <a:xfrm>
            <a:off x="4754880" y="2542032"/>
            <a:ext cx="457200" cy="457200"/>
          </a:xfrm>
          <a:prstGeom prst="ellipse">
            <a:avLst/>
          </a:prstGeom>
          <a:solidFill>
            <a:srgbClr val="B85042"/>
          </a:solidFill>
          <a:ln/>
        </p:spPr>
      </p:sp>
      <p:pic>
        <p:nvPicPr>
          <p:cNvPr id="22" name="Image 1" descr="preencoded.png">    </p:cNvPr>
          <p:cNvPicPr>
            <a:picLocks noChangeAspect="1"/>
          </p:cNvPicPr>
          <p:nvPr/>
        </p:nvPicPr>
        <p:blipFill>
          <a:blip r:embed="rId2"/>
          <a:stretch>
            <a:fillRect/>
          </a:stretch>
        </p:blipFill>
        <p:spPr>
          <a:xfrm>
            <a:off x="4878324" y="2665476"/>
            <a:ext cx="210312" cy="210312"/>
          </a:xfrm>
          <a:prstGeom prst="rect">
            <a:avLst/>
          </a:prstGeom>
        </p:spPr>
      </p:pic>
      <p:sp>
        <p:nvSpPr>
          <p:cNvPr id="23" name="Text 19"/>
          <p:cNvSpPr/>
          <p:nvPr/>
        </p:nvSpPr>
        <p:spPr>
          <a:xfrm>
            <a:off x="5349240" y="2505456"/>
            <a:ext cx="3337560" cy="54864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Soil-mix know-how is proprietary and site-specific</a:t>
            </a:r>
            <a:endParaRPr lang="en-US" sz="1150" dirty="0"/>
          </a:p>
        </p:txBody>
      </p:sp>
      <p:sp>
        <p:nvSpPr>
          <p:cNvPr id="24" name="Shape 20"/>
          <p:cNvSpPr/>
          <p:nvPr/>
        </p:nvSpPr>
        <p:spPr>
          <a:xfrm>
            <a:off x="4754880" y="3145536"/>
            <a:ext cx="457200" cy="457200"/>
          </a:xfrm>
          <a:prstGeom prst="ellipse">
            <a:avLst/>
          </a:prstGeom>
          <a:solidFill>
            <a:srgbClr val="B85042"/>
          </a:solidFill>
          <a:ln/>
        </p:spPr>
      </p:sp>
      <p:pic>
        <p:nvPicPr>
          <p:cNvPr id="25" name="Image 2" descr="preencoded.png">    </p:cNvPr>
          <p:cNvPicPr>
            <a:picLocks noChangeAspect="1"/>
          </p:cNvPicPr>
          <p:nvPr/>
        </p:nvPicPr>
        <p:blipFill>
          <a:blip r:embed="rId3"/>
          <a:stretch>
            <a:fillRect/>
          </a:stretch>
        </p:blipFill>
        <p:spPr>
          <a:xfrm>
            <a:off x="4878324" y="3268980"/>
            <a:ext cx="210312" cy="210312"/>
          </a:xfrm>
          <a:prstGeom prst="rect">
            <a:avLst/>
          </a:prstGeom>
        </p:spPr>
      </p:pic>
      <p:sp>
        <p:nvSpPr>
          <p:cNvPr id="26" name="Text 21"/>
          <p:cNvSpPr/>
          <p:nvPr/>
        </p:nvSpPr>
        <p:spPr>
          <a:xfrm>
            <a:off x="5349240" y="3108960"/>
            <a:ext cx="3337560" cy="54864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Builder relationships lock in once specified in drawings</a:t>
            </a:r>
            <a:endParaRPr lang="en-US" sz="1150" dirty="0"/>
          </a:p>
        </p:txBody>
      </p:sp>
      <p:sp>
        <p:nvSpPr>
          <p:cNvPr id="27" name="Shape 22"/>
          <p:cNvSpPr/>
          <p:nvPr/>
        </p:nvSpPr>
        <p:spPr>
          <a:xfrm>
            <a:off x="4754880" y="3749040"/>
            <a:ext cx="457200" cy="457200"/>
          </a:xfrm>
          <a:prstGeom prst="ellipse">
            <a:avLst/>
          </a:prstGeom>
          <a:solidFill>
            <a:srgbClr val="B85042"/>
          </a:solidFill>
          <a:ln/>
        </p:spPr>
      </p:sp>
      <p:pic>
        <p:nvPicPr>
          <p:cNvPr id="28" name="Image 3" descr="preencoded.png">    </p:cNvPr>
          <p:cNvPicPr>
            <a:picLocks noChangeAspect="1"/>
          </p:cNvPicPr>
          <p:nvPr/>
        </p:nvPicPr>
        <p:blipFill>
          <a:blip r:embed="rId4"/>
          <a:stretch>
            <a:fillRect/>
          </a:stretch>
        </p:blipFill>
        <p:spPr>
          <a:xfrm>
            <a:off x="4878324" y="3872484"/>
            <a:ext cx="210312" cy="210312"/>
          </a:xfrm>
          <a:prstGeom prst="rect">
            <a:avLst/>
          </a:prstGeom>
        </p:spPr>
      </p:pic>
      <p:sp>
        <p:nvSpPr>
          <p:cNvPr id="29" name="Text 23"/>
          <p:cNvSpPr/>
          <p:nvPr/>
        </p:nvSpPr>
        <p:spPr>
          <a:xfrm>
            <a:off x="5349240" y="3712464"/>
            <a:ext cx="3337560" cy="54864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Digital presence — only 13.2% of rivals even have a website</a:t>
            </a:r>
            <a:endParaRPr lang="en-US" sz="1150" dirty="0"/>
          </a:p>
        </p:txBody>
      </p:sp>
      <p:sp>
        <p:nvSpPr>
          <p:cNvPr id="30" name="Text 24"/>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 TerraBlock field survey (355 factories). Direct CSEB competitors in Telangana: zero.</a:t>
            </a:r>
            <a:endParaRPr lang="en-US" sz="800" dirty="0"/>
          </a:p>
        </p:txBody>
      </p:sp>
      <p:sp>
        <p:nvSpPr>
          <p:cNvPr id="31" name="Text 25"/>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UNIT ECONOMICS</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400" b="1" dirty="0">
                <a:solidFill>
                  <a:srgbClr val="33291F"/>
                </a:solidFill>
                <a:latin typeface="Cambria" pitchFamily="34" charset="0"/>
                <a:ea typeface="Cambria" pitchFamily="34" charset="-122"/>
                <a:cs typeface="Cambria" pitchFamily="34" charset="-120"/>
              </a:rPr>
              <a:t>Soil is nearly free — so the margin is in the block</a:t>
            </a:r>
            <a:endParaRPr lang="en-US" sz="2400" dirty="0"/>
          </a:p>
        </p:txBody>
      </p:sp>
      <p:sp>
        <p:nvSpPr>
          <p:cNvPr id="4" name="Text 2"/>
          <p:cNvSpPr/>
          <p:nvPr/>
        </p:nvSpPr>
        <p:spPr>
          <a:xfrm>
            <a:off x="548640" y="1463040"/>
            <a:ext cx="4114800" cy="320040"/>
          </a:xfrm>
          <a:prstGeom prst="rect">
            <a:avLst/>
          </a:prstGeom>
          <a:noFill/>
          <a:ln/>
        </p:spPr>
        <p:txBody>
          <a:bodyPr wrap="square" lIns="0" tIns="0" rIns="0" bIns="0" rtlCol="0" anchor="ctr"/>
          <a:lstStyle/>
          <a:p>
            <a:pPr indent="0" marL="0">
              <a:buNone/>
            </a:pPr>
            <a:r>
              <a:rPr lang="en-US" sz="1400" b="1" dirty="0">
                <a:solidFill>
                  <a:srgbClr val="8F3D31"/>
                </a:solidFill>
                <a:latin typeface="Cambria" pitchFamily="34" charset="0"/>
                <a:ea typeface="Cambria" pitchFamily="34" charset="-122"/>
                <a:cs typeface="Cambria" pitchFamily="34" charset="-120"/>
              </a:rPr>
              <a:t>Per CSEB block (300×150×90 mm)</a:t>
            </a:r>
            <a:endParaRPr lang="en-US" sz="1400" dirty="0"/>
          </a:p>
        </p:txBody>
      </p:sp>
      <p:sp>
        <p:nvSpPr>
          <p:cNvPr id="5" name="Text 3"/>
          <p:cNvSpPr/>
          <p:nvPr/>
        </p:nvSpPr>
        <p:spPr>
          <a:xfrm>
            <a:off x="548640" y="1874520"/>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Sells for</a:t>
            </a:r>
            <a:endParaRPr lang="en-US" sz="1200" dirty="0"/>
          </a:p>
        </p:txBody>
      </p:sp>
      <p:sp>
        <p:nvSpPr>
          <p:cNvPr id="6" name="Shape 4"/>
          <p:cNvSpPr/>
          <p:nvPr/>
        </p:nvSpPr>
        <p:spPr>
          <a:xfrm>
            <a:off x="2514600" y="1911096"/>
            <a:ext cx="3108960" cy="347472"/>
          </a:xfrm>
          <a:prstGeom prst="roundRect">
            <a:avLst>
              <a:gd name="adj" fmla="val 10526"/>
            </a:avLst>
          </a:prstGeom>
          <a:solidFill>
            <a:srgbClr val="B85042"/>
          </a:solidFill>
          <a:ln/>
        </p:spPr>
      </p:sp>
      <p:sp>
        <p:nvSpPr>
          <p:cNvPr id="7" name="Text 5"/>
          <p:cNvSpPr/>
          <p:nvPr/>
        </p:nvSpPr>
        <p:spPr>
          <a:xfrm>
            <a:off x="5715000" y="1911096"/>
            <a:ext cx="822960" cy="347472"/>
          </a:xfrm>
          <a:prstGeom prst="rect">
            <a:avLst/>
          </a:prstGeom>
          <a:noFill/>
          <a:ln/>
        </p:spPr>
        <p:txBody>
          <a:bodyPr wrap="square" lIns="0" tIns="0" rIns="0" bIns="0" rtlCol="0" anchor="ctr"/>
          <a:lstStyle/>
          <a:p>
            <a:pPr indent="0" marL="0">
              <a:buNone/>
            </a:pPr>
            <a:r>
              <a:rPr lang="en-US" sz="1250" b="1" dirty="0">
                <a:solidFill>
                  <a:srgbClr val="B85042"/>
                </a:solidFill>
                <a:latin typeface="Cambria" pitchFamily="34" charset="0"/>
                <a:ea typeface="Cambria" pitchFamily="34" charset="-122"/>
                <a:cs typeface="Cambria" pitchFamily="34" charset="-120"/>
              </a:rPr>
              <a:t>₹28</a:t>
            </a:r>
            <a:endParaRPr lang="en-US" sz="1250" dirty="0"/>
          </a:p>
        </p:txBody>
      </p:sp>
      <p:sp>
        <p:nvSpPr>
          <p:cNvPr id="8" name="Text 6"/>
          <p:cNvSpPr/>
          <p:nvPr/>
        </p:nvSpPr>
        <p:spPr>
          <a:xfrm>
            <a:off x="548640" y="2386584"/>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Soil + 6% cement</a:t>
            </a:r>
            <a:endParaRPr lang="en-US" sz="1200" dirty="0"/>
          </a:p>
        </p:txBody>
      </p:sp>
      <p:sp>
        <p:nvSpPr>
          <p:cNvPr id="9" name="Shape 7"/>
          <p:cNvSpPr/>
          <p:nvPr/>
        </p:nvSpPr>
        <p:spPr>
          <a:xfrm>
            <a:off x="2514600" y="2423160"/>
            <a:ext cx="943791" cy="347472"/>
          </a:xfrm>
          <a:prstGeom prst="roundRect">
            <a:avLst>
              <a:gd name="adj" fmla="val 10526"/>
            </a:avLst>
          </a:prstGeom>
          <a:solidFill>
            <a:srgbClr val="B7AC9C"/>
          </a:solidFill>
          <a:ln/>
        </p:spPr>
      </p:sp>
      <p:sp>
        <p:nvSpPr>
          <p:cNvPr id="10" name="Text 8"/>
          <p:cNvSpPr/>
          <p:nvPr/>
        </p:nvSpPr>
        <p:spPr>
          <a:xfrm>
            <a:off x="3549831" y="2423160"/>
            <a:ext cx="822960" cy="347472"/>
          </a:xfrm>
          <a:prstGeom prst="rect">
            <a:avLst/>
          </a:prstGeom>
          <a:noFill/>
          <a:ln/>
        </p:spPr>
        <p:txBody>
          <a:bodyPr wrap="square" lIns="0" tIns="0" rIns="0" bIns="0" rtlCol="0" anchor="ctr"/>
          <a:lstStyle/>
          <a:p>
            <a:pPr indent="0" marL="0">
              <a:buNone/>
            </a:pPr>
            <a:r>
              <a:rPr lang="en-US" sz="1250" b="1" dirty="0">
                <a:solidFill>
                  <a:srgbClr val="8A7E6E"/>
                </a:solidFill>
                <a:latin typeface="Cambria" pitchFamily="34" charset="0"/>
                <a:ea typeface="Cambria" pitchFamily="34" charset="-122"/>
                <a:cs typeface="Cambria" pitchFamily="34" charset="-120"/>
              </a:rPr>
              <a:t>₹8.5</a:t>
            </a:r>
            <a:endParaRPr lang="en-US" sz="1250" dirty="0"/>
          </a:p>
        </p:txBody>
      </p:sp>
      <p:sp>
        <p:nvSpPr>
          <p:cNvPr id="11" name="Text 9"/>
          <p:cNvSpPr/>
          <p:nvPr/>
        </p:nvSpPr>
        <p:spPr>
          <a:xfrm>
            <a:off x="548640" y="2898648"/>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Labour</a:t>
            </a:r>
            <a:endParaRPr lang="en-US" sz="1200" dirty="0"/>
          </a:p>
        </p:txBody>
      </p:sp>
      <p:sp>
        <p:nvSpPr>
          <p:cNvPr id="12" name="Shape 10"/>
          <p:cNvSpPr/>
          <p:nvPr/>
        </p:nvSpPr>
        <p:spPr>
          <a:xfrm>
            <a:off x="2514600" y="2935224"/>
            <a:ext cx="388620" cy="347472"/>
          </a:xfrm>
          <a:prstGeom prst="roundRect">
            <a:avLst>
              <a:gd name="adj" fmla="val 10526"/>
            </a:avLst>
          </a:prstGeom>
          <a:solidFill>
            <a:srgbClr val="B7AC9C"/>
          </a:solidFill>
          <a:ln/>
        </p:spPr>
      </p:sp>
      <p:sp>
        <p:nvSpPr>
          <p:cNvPr id="13" name="Text 11"/>
          <p:cNvSpPr/>
          <p:nvPr/>
        </p:nvSpPr>
        <p:spPr>
          <a:xfrm>
            <a:off x="2994660" y="2935224"/>
            <a:ext cx="822960" cy="347472"/>
          </a:xfrm>
          <a:prstGeom prst="rect">
            <a:avLst/>
          </a:prstGeom>
          <a:noFill/>
          <a:ln/>
        </p:spPr>
        <p:txBody>
          <a:bodyPr wrap="square" lIns="0" tIns="0" rIns="0" bIns="0" rtlCol="0" anchor="ctr"/>
          <a:lstStyle/>
          <a:p>
            <a:pPr indent="0" marL="0">
              <a:buNone/>
            </a:pPr>
            <a:r>
              <a:rPr lang="en-US" sz="1250" b="1" dirty="0">
                <a:solidFill>
                  <a:srgbClr val="8A7E6E"/>
                </a:solidFill>
                <a:latin typeface="Cambria" pitchFamily="34" charset="0"/>
                <a:ea typeface="Cambria" pitchFamily="34" charset="-122"/>
                <a:cs typeface="Cambria" pitchFamily="34" charset="-120"/>
              </a:rPr>
              <a:t>₹3.5</a:t>
            </a:r>
            <a:endParaRPr lang="en-US" sz="1250" dirty="0"/>
          </a:p>
        </p:txBody>
      </p:sp>
      <p:sp>
        <p:nvSpPr>
          <p:cNvPr id="14" name="Text 12"/>
          <p:cNvSpPr/>
          <p:nvPr/>
        </p:nvSpPr>
        <p:spPr>
          <a:xfrm>
            <a:off x="548640" y="3410712"/>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Power + overhead</a:t>
            </a:r>
            <a:endParaRPr lang="en-US" sz="1200" dirty="0"/>
          </a:p>
        </p:txBody>
      </p:sp>
      <p:sp>
        <p:nvSpPr>
          <p:cNvPr id="15" name="Shape 13"/>
          <p:cNvSpPr/>
          <p:nvPr/>
        </p:nvSpPr>
        <p:spPr>
          <a:xfrm>
            <a:off x="2514600" y="3447288"/>
            <a:ext cx="333103" cy="347472"/>
          </a:xfrm>
          <a:prstGeom prst="roundRect">
            <a:avLst>
              <a:gd name="adj" fmla="val 10980"/>
            </a:avLst>
          </a:prstGeom>
          <a:solidFill>
            <a:srgbClr val="B7AC9C"/>
          </a:solidFill>
          <a:ln/>
        </p:spPr>
      </p:sp>
      <p:sp>
        <p:nvSpPr>
          <p:cNvPr id="16" name="Text 14"/>
          <p:cNvSpPr/>
          <p:nvPr/>
        </p:nvSpPr>
        <p:spPr>
          <a:xfrm>
            <a:off x="2939143" y="3447288"/>
            <a:ext cx="822960" cy="347472"/>
          </a:xfrm>
          <a:prstGeom prst="rect">
            <a:avLst/>
          </a:prstGeom>
          <a:noFill/>
          <a:ln/>
        </p:spPr>
        <p:txBody>
          <a:bodyPr wrap="square" lIns="0" tIns="0" rIns="0" bIns="0" rtlCol="0" anchor="ctr"/>
          <a:lstStyle/>
          <a:p>
            <a:pPr indent="0" marL="0">
              <a:buNone/>
            </a:pPr>
            <a:r>
              <a:rPr lang="en-US" sz="1250" b="1" dirty="0">
                <a:solidFill>
                  <a:srgbClr val="8A7E6E"/>
                </a:solidFill>
                <a:latin typeface="Cambria" pitchFamily="34" charset="0"/>
                <a:ea typeface="Cambria" pitchFamily="34" charset="-122"/>
                <a:cs typeface="Cambria" pitchFamily="34" charset="-120"/>
              </a:rPr>
              <a:t>₹3.0</a:t>
            </a:r>
            <a:endParaRPr lang="en-US" sz="1250" dirty="0"/>
          </a:p>
        </p:txBody>
      </p:sp>
      <p:sp>
        <p:nvSpPr>
          <p:cNvPr id="17" name="Text 15"/>
          <p:cNvSpPr/>
          <p:nvPr/>
        </p:nvSpPr>
        <p:spPr>
          <a:xfrm>
            <a:off x="548640" y="3922776"/>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Gross profit</a:t>
            </a:r>
            <a:endParaRPr lang="en-US" sz="1200" dirty="0"/>
          </a:p>
        </p:txBody>
      </p:sp>
      <p:sp>
        <p:nvSpPr>
          <p:cNvPr id="18" name="Shape 16"/>
          <p:cNvSpPr/>
          <p:nvPr/>
        </p:nvSpPr>
        <p:spPr>
          <a:xfrm>
            <a:off x="2514600" y="3959352"/>
            <a:ext cx="1443446" cy="347472"/>
          </a:xfrm>
          <a:prstGeom prst="roundRect">
            <a:avLst>
              <a:gd name="adj" fmla="val 10526"/>
            </a:avLst>
          </a:prstGeom>
          <a:solidFill>
            <a:srgbClr val="5C8A5A"/>
          </a:solidFill>
          <a:ln/>
        </p:spPr>
      </p:sp>
      <p:sp>
        <p:nvSpPr>
          <p:cNvPr id="19" name="Text 17"/>
          <p:cNvSpPr/>
          <p:nvPr/>
        </p:nvSpPr>
        <p:spPr>
          <a:xfrm>
            <a:off x="4049486" y="3959352"/>
            <a:ext cx="822960" cy="347472"/>
          </a:xfrm>
          <a:prstGeom prst="rect">
            <a:avLst/>
          </a:prstGeom>
          <a:noFill/>
          <a:ln/>
        </p:spPr>
        <p:txBody>
          <a:bodyPr wrap="square" lIns="0" tIns="0" rIns="0" bIns="0" rtlCol="0" anchor="ctr"/>
          <a:lstStyle/>
          <a:p>
            <a:pPr indent="0" marL="0">
              <a:buNone/>
            </a:pPr>
            <a:r>
              <a:rPr lang="en-US" sz="1250" b="1" dirty="0">
                <a:solidFill>
                  <a:srgbClr val="5C8A5A"/>
                </a:solidFill>
                <a:latin typeface="Cambria" pitchFamily="34" charset="0"/>
                <a:ea typeface="Cambria" pitchFamily="34" charset="-122"/>
                <a:cs typeface="Cambria" pitchFamily="34" charset="-120"/>
              </a:rPr>
              <a:t>₹13</a:t>
            </a:r>
            <a:endParaRPr lang="en-US" sz="1250" dirty="0"/>
          </a:p>
        </p:txBody>
      </p:sp>
      <p:sp>
        <p:nvSpPr>
          <p:cNvPr id="20" name="Shape 18"/>
          <p:cNvSpPr/>
          <p:nvPr/>
        </p:nvSpPr>
        <p:spPr>
          <a:xfrm>
            <a:off x="6400800" y="1783080"/>
            <a:ext cx="2286000" cy="1371600"/>
          </a:xfrm>
          <a:prstGeom prst="roundRect">
            <a:avLst>
              <a:gd name="adj" fmla="val 6667"/>
            </a:avLst>
          </a:prstGeom>
          <a:solidFill>
            <a:srgbClr val="262019"/>
          </a:solidFill>
          <a:ln/>
          <a:effectLst>
            <a:outerShdw sx="100000" sy="100000" kx="0" ky="0" algn="bl" rotWithShape="0" blurRad="88900" dist="38100" dir="5400000">
              <a:srgbClr val="000000">
                <a:alpha val="16000"/>
              </a:srgbClr>
            </a:outerShdw>
          </a:effectLst>
        </p:spPr>
      </p:sp>
      <p:sp>
        <p:nvSpPr>
          <p:cNvPr id="21" name="Text 19"/>
          <p:cNvSpPr/>
          <p:nvPr/>
        </p:nvSpPr>
        <p:spPr>
          <a:xfrm>
            <a:off x="6400800" y="1920240"/>
            <a:ext cx="2286000" cy="731520"/>
          </a:xfrm>
          <a:prstGeom prst="rect">
            <a:avLst/>
          </a:prstGeom>
          <a:noFill/>
          <a:ln/>
        </p:spPr>
        <p:txBody>
          <a:bodyPr wrap="square" lIns="0" tIns="0" rIns="0" bIns="0" rtlCol="0" anchor="ctr"/>
          <a:lstStyle/>
          <a:p>
            <a:pPr algn="ctr" indent="0" marL="0">
              <a:buNone/>
            </a:pPr>
            <a:r>
              <a:rPr lang="en-US" sz="4400" b="1" dirty="0">
                <a:solidFill>
                  <a:srgbClr val="5C8A5A"/>
                </a:solidFill>
                <a:latin typeface="Cambria" pitchFamily="34" charset="0"/>
                <a:ea typeface="Cambria" pitchFamily="34" charset="-122"/>
                <a:cs typeface="Cambria" pitchFamily="34" charset="-120"/>
              </a:rPr>
              <a:t>~46%</a:t>
            </a:r>
            <a:endParaRPr lang="en-US" sz="4400" dirty="0"/>
          </a:p>
        </p:txBody>
      </p:sp>
      <p:sp>
        <p:nvSpPr>
          <p:cNvPr id="22" name="Text 20"/>
          <p:cNvSpPr/>
          <p:nvPr/>
        </p:nvSpPr>
        <p:spPr>
          <a:xfrm>
            <a:off x="6400800" y="2697480"/>
            <a:ext cx="2286000" cy="365760"/>
          </a:xfrm>
          <a:prstGeom prst="rect">
            <a:avLst/>
          </a:prstGeom>
          <a:noFill/>
          <a:ln/>
        </p:spPr>
        <p:txBody>
          <a:bodyPr wrap="square" lIns="0" tIns="0" rIns="0" bIns="0" rtlCol="0" anchor="ctr"/>
          <a:lstStyle/>
          <a:p>
            <a:pPr algn="ctr" indent="0" marL="0">
              <a:buNone/>
            </a:pPr>
            <a:r>
              <a:rPr lang="en-US" sz="1200" dirty="0">
                <a:solidFill>
                  <a:srgbClr val="EDE7D9"/>
                </a:solidFill>
                <a:latin typeface="Calibri" pitchFamily="34" charset="0"/>
                <a:ea typeface="Calibri" pitchFamily="34" charset="-122"/>
                <a:cs typeface="Calibri" pitchFamily="34" charset="-120"/>
              </a:rPr>
              <a:t>gross margin per block</a:t>
            </a:r>
            <a:endParaRPr lang="en-US" sz="1200" dirty="0"/>
          </a:p>
        </p:txBody>
      </p:sp>
      <p:sp>
        <p:nvSpPr>
          <p:cNvPr id="23" name="Shape 21"/>
          <p:cNvSpPr/>
          <p:nvPr/>
        </p:nvSpPr>
        <p:spPr>
          <a:xfrm>
            <a:off x="6400800" y="3291840"/>
            <a:ext cx="2286000" cy="1051560"/>
          </a:xfrm>
          <a:prstGeom prst="roundRect">
            <a:avLst>
              <a:gd name="adj" fmla="val 8696"/>
            </a:avLst>
          </a:prstGeom>
          <a:solidFill>
            <a:srgbClr val="FFFFFF"/>
          </a:solidFill>
          <a:ln/>
          <a:effectLst>
            <a:outerShdw sx="100000" sy="100000" kx="0" ky="0" algn="bl" rotWithShape="0" blurRad="88900" dist="38100" dir="5400000">
              <a:srgbClr val="000000">
                <a:alpha val="16000"/>
              </a:srgbClr>
            </a:outerShdw>
          </a:effectLst>
        </p:spPr>
      </p:sp>
      <p:sp>
        <p:nvSpPr>
          <p:cNvPr id="24" name="Text 22"/>
          <p:cNvSpPr/>
          <p:nvPr/>
        </p:nvSpPr>
        <p:spPr>
          <a:xfrm>
            <a:off x="6400800" y="3401568"/>
            <a:ext cx="2286000" cy="274320"/>
          </a:xfrm>
          <a:prstGeom prst="rect">
            <a:avLst/>
          </a:prstGeom>
          <a:noFill/>
          <a:ln/>
        </p:spPr>
        <p:txBody>
          <a:bodyPr wrap="square" lIns="0" tIns="0" rIns="0" bIns="0" rtlCol="0" anchor="ctr"/>
          <a:lstStyle/>
          <a:p>
            <a:pPr algn="ctr" indent="0" marL="0">
              <a:buNone/>
            </a:pPr>
            <a:r>
              <a:rPr lang="en-US" sz="1100" dirty="0">
                <a:solidFill>
                  <a:srgbClr val="7A6E60"/>
                </a:solidFill>
                <a:latin typeface="Calibri" pitchFamily="34" charset="0"/>
                <a:ea typeface="Calibri" pitchFamily="34" charset="-122"/>
                <a:cs typeface="Calibri" pitchFamily="34" charset="-120"/>
              </a:rPr>
              <a:t>Market price today</a:t>
            </a:r>
            <a:endParaRPr lang="en-US" sz="1100" dirty="0"/>
          </a:p>
        </p:txBody>
      </p:sp>
      <p:sp>
        <p:nvSpPr>
          <p:cNvPr id="25" name="Text 23"/>
          <p:cNvSpPr/>
          <p:nvPr/>
        </p:nvSpPr>
        <p:spPr>
          <a:xfrm>
            <a:off x="6400800" y="3639312"/>
            <a:ext cx="2286000" cy="457200"/>
          </a:xfrm>
          <a:prstGeom prst="rect">
            <a:avLst/>
          </a:prstGeom>
          <a:noFill/>
          <a:ln/>
        </p:spPr>
        <p:txBody>
          <a:bodyPr wrap="square" lIns="0" tIns="0" rIns="0" bIns="0" rtlCol="0" anchor="ctr"/>
          <a:lstStyle/>
          <a:p>
            <a:pPr algn="ctr" indent="0" marL="0">
              <a:buNone/>
            </a:pPr>
            <a:r>
              <a:rPr lang="en-US" sz="3000" b="1" dirty="0">
                <a:solidFill>
                  <a:srgbClr val="B85042"/>
                </a:solidFill>
                <a:latin typeface="Cambria" pitchFamily="34" charset="0"/>
                <a:ea typeface="Cambria" pitchFamily="34" charset="-122"/>
                <a:cs typeface="Cambria" pitchFamily="34" charset="-120"/>
              </a:rPr>
              <a:t>₹30–50</a:t>
            </a:r>
            <a:endParaRPr lang="en-US" sz="3000" dirty="0"/>
          </a:p>
        </p:txBody>
      </p:sp>
      <p:sp>
        <p:nvSpPr>
          <p:cNvPr id="26" name="Text 24"/>
          <p:cNvSpPr/>
          <p:nvPr/>
        </p:nvSpPr>
        <p:spPr>
          <a:xfrm>
            <a:off x="6400800" y="4069080"/>
            <a:ext cx="2286000" cy="274320"/>
          </a:xfrm>
          <a:prstGeom prst="rect">
            <a:avLst/>
          </a:prstGeom>
          <a:noFill/>
          <a:ln/>
        </p:spPr>
        <p:txBody>
          <a:bodyPr wrap="square" lIns="0" tIns="0" rIns="0" bIns="0" rtlCol="0" anchor="ctr"/>
          <a:lstStyle/>
          <a:p>
            <a:pPr algn="ctr" indent="0" marL="0">
              <a:buNone/>
            </a:pPr>
            <a:r>
              <a:rPr lang="en-US" sz="950" i="1" dirty="0">
                <a:solidFill>
                  <a:srgbClr val="7A6E60"/>
                </a:solidFill>
                <a:latin typeface="Calibri" pitchFamily="34" charset="0"/>
                <a:ea typeface="Calibri" pitchFamily="34" charset="-122"/>
                <a:cs typeface="Calibri" pitchFamily="34" charset="-120"/>
              </a:rPr>
              <a:t>per block — we enter below it</a:t>
            </a:r>
            <a:endParaRPr lang="en-US" sz="950" dirty="0"/>
          </a:p>
        </p:txBody>
      </p:sp>
      <p:sp>
        <p:nvSpPr>
          <p:cNvPr id="27" name="Text 25"/>
          <p:cNvSpPr/>
          <p:nvPr/>
        </p:nvSpPr>
        <p:spPr>
          <a:xfrm>
            <a:off x="548640" y="4526280"/>
            <a:ext cx="5669280" cy="365760"/>
          </a:xfrm>
          <a:prstGeom prst="rect">
            <a:avLst/>
          </a:prstGeom>
          <a:noFill/>
          <a:ln/>
        </p:spPr>
        <p:txBody>
          <a:bodyPr wrap="square" lIns="0" tIns="0" rIns="0" bIns="0" rtlCol="0" anchor="ctr"/>
          <a:lstStyle/>
          <a:p>
            <a:pPr indent="0" marL="0">
              <a:buNone/>
            </a:pPr>
            <a:r>
              <a:rPr lang="en-US" sz="1100" i="1" dirty="0">
                <a:solidFill>
                  <a:srgbClr val="55493D"/>
                </a:solidFill>
                <a:latin typeface="Calibri" pitchFamily="34" charset="0"/>
                <a:ea typeface="Calibri" pitchFamily="34" charset="-122"/>
                <a:cs typeface="Calibri" pitchFamily="34" charset="-120"/>
              </a:rPr>
              <a:t>Sell the total cost, not the brick price: a CSEB wall cuts a builder's mortar, plastering and labour.</a:t>
            </a:r>
            <a:endParaRPr lang="en-US" sz="1100" dirty="0"/>
          </a:p>
        </p:txBody>
      </p:sp>
      <p:sp>
        <p:nvSpPr>
          <p:cNvPr id="28" name="Text 26"/>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Cost figures are founder estimates pending soil test &amp; machine quotes. Market price: Brick&amp;Bolt CSEB guide.</a:t>
            </a:r>
            <a:endParaRPr lang="en-US" sz="800" dirty="0"/>
          </a:p>
        </p:txBody>
      </p:sp>
      <p:sp>
        <p:nvSpPr>
          <p:cNvPr id="29" name="Text 27"/>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FINANCIAL PROJECTION</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Break-even by Month 16, profitable from Year 2</a:t>
            </a:r>
            <a:endParaRPr lang="en-US" sz="2500" dirty="0"/>
          </a:p>
        </p:txBody>
      </p:sp>
      <p:graphicFrame>
        <p:nvGraphicFramePr>
          <p:cNvPr id="4" name="Chart 0" descr=""/>
          <p:cNvGraphicFramePr/>
          <p:nvPr/>
        </p:nvGraphicFramePr>
        <p:xfrm>
          <a:off x="457200" y="1554480"/>
          <a:ext cx="5212080" cy="3063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97880" y="1572768"/>
            <a:ext cx="2788920" cy="658368"/>
          </a:xfrm>
          <a:prstGeom prst="roundRect">
            <a:avLst>
              <a:gd name="adj" fmla="val 11111"/>
            </a:avLst>
          </a:prstGeom>
          <a:solidFill>
            <a:srgbClr val="F6F2EA"/>
          </a:solidFill>
          <a:ln/>
        </p:spPr>
      </p:sp>
      <p:sp>
        <p:nvSpPr>
          <p:cNvPr id="6" name="Text 3"/>
          <p:cNvSpPr/>
          <p:nvPr/>
        </p:nvSpPr>
        <p:spPr>
          <a:xfrm>
            <a:off x="6035040" y="1572768"/>
            <a:ext cx="1234440" cy="658368"/>
          </a:xfrm>
          <a:prstGeom prst="rect">
            <a:avLst/>
          </a:prstGeom>
          <a:noFill/>
          <a:ln/>
        </p:spPr>
        <p:txBody>
          <a:bodyPr wrap="square" lIns="0" tIns="0" rIns="0" bIns="0" rtlCol="0" anchor="ctr"/>
          <a:lstStyle/>
          <a:p>
            <a:pPr indent="0" marL="0">
              <a:buNone/>
            </a:pPr>
            <a:r>
              <a:rPr lang="en-US" sz="1900" b="1" dirty="0">
                <a:solidFill>
                  <a:srgbClr val="B85042"/>
                </a:solidFill>
                <a:latin typeface="Cambria" pitchFamily="34" charset="0"/>
                <a:ea typeface="Cambria" pitchFamily="34" charset="-122"/>
                <a:cs typeface="Cambria" pitchFamily="34" charset="-120"/>
              </a:rPr>
              <a:t>₹12 lakh</a:t>
            </a:r>
            <a:endParaRPr lang="en-US" sz="1900" dirty="0"/>
          </a:p>
        </p:txBody>
      </p:sp>
      <p:sp>
        <p:nvSpPr>
          <p:cNvPr id="7" name="Text 4"/>
          <p:cNvSpPr/>
          <p:nvPr/>
        </p:nvSpPr>
        <p:spPr>
          <a:xfrm>
            <a:off x="7269480" y="1572768"/>
            <a:ext cx="1325880" cy="658368"/>
          </a:xfrm>
          <a:prstGeom prst="rect">
            <a:avLst/>
          </a:prstGeom>
          <a:noFill/>
          <a:ln/>
        </p:spPr>
        <p:txBody>
          <a:bodyPr wrap="square" lIns="0" tIns="0" rIns="0" bIns="0" rtlCol="0" anchor="ctr"/>
          <a:lstStyle/>
          <a:p>
            <a:pPr indent="0" marL="0">
              <a:buNone/>
            </a:pPr>
            <a:r>
              <a:rPr lang="en-US" sz="1000" dirty="0">
                <a:solidFill>
                  <a:srgbClr val="55493D"/>
                </a:solidFill>
                <a:latin typeface="Calibri" pitchFamily="34" charset="0"/>
                <a:ea typeface="Calibri" pitchFamily="34" charset="-122"/>
                <a:cs typeface="Calibri" pitchFamily="34" charset="-120"/>
              </a:rPr>
              <a:t>monthly revenue run-rate by Year 2</a:t>
            </a:r>
            <a:endParaRPr lang="en-US" sz="1000" dirty="0"/>
          </a:p>
        </p:txBody>
      </p:sp>
      <p:sp>
        <p:nvSpPr>
          <p:cNvPr id="8" name="Shape 5"/>
          <p:cNvSpPr/>
          <p:nvPr/>
        </p:nvSpPr>
        <p:spPr>
          <a:xfrm>
            <a:off x="5897880" y="2340864"/>
            <a:ext cx="2788920" cy="658368"/>
          </a:xfrm>
          <a:prstGeom prst="roundRect">
            <a:avLst>
              <a:gd name="adj" fmla="val 11111"/>
            </a:avLst>
          </a:prstGeom>
          <a:solidFill>
            <a:srgbClr val="F6F2EA"/>
          </a:solidFill>
          <a:ln/>
        </p:spPr>
      </p:sp>
      <p:sp>
        <p:nvSpPr>
          <p:cNvPr id="9" name="Text 6"/>
          <p:cNvSpPr/>
          <p:nvPr/>
        </p:nvSpPr>
        <p:spPr>
          <a:xfrm>
            <a:off x="6035040" y="2340864"/>
            <a:ext cx="1234440" cy="658368"/>
          </a:xfrm>
          <a:prstGeom prst="rect">
            <a:avLst/>
          </a:prstGeom>
          <a:noFill/>
          <a:ln/>
        </p:spPr>
        <p:txBody>
          <a:bodyPr wrap="square" lIns="0" tIns="0" rIns="0" bIns="0" rtlCol="0" anchor="ctr"/>
          <a:lstStyle/>
          <a:p>
            <a:pPr indent="0" marL="0">
              <a:buNone/>
            </a:pPr>
            <a:r>
              <a:rPr lang="en-US" sz="1900" b="1" dirty="0">
                <a:solidFill>
                  <a:srgbClr val="5C8A5A"/>
                </a:solidFill>
                <a:latin typeface="Cambria" pitchFamily="34" charset="0"/>
                <a:ea typeface="Cambria" pitchFamily="34" charset="-122"/>
                <a:cs typeface="Cambria" pitchFamily="34" charset="-120"/>
              </a:rPr>
              <a:t>~46%</a:t>
            </a:r>
            <a:endParaRPr lang="en-US" sz="1900" dirty="0"/>
          </a:p>
        </p:txBody>
      </p:sp>
      <p:sp>
        <p:nvSpPr>
          <p:cNvPr id="10" name="Text 7"/>
          <p:cNvSpPr/>
          <p:nvPr/>
        </p:nvSpPr>
        <p:spPr>
          <a:xfrm>
            <a:off x="7269480" y="2340864"/>
            <a:ext cx="1325880" cy="658368"/>
          </a:xfrm>
          <a:prstGeom prst="rect">
            <a:avLst/>
          </a:prstGeom>
          <a:noFill/>
          <a:ln/>
        </p:spPr>
        <p:txBody>
          <a:bodyPr wrap="square" lIns="0" tIns="0" rIns="0" bIns="0" rtlCol="0" anchor="ctr"/>
          <a:lstStyle/>
          <a:p>
            <a:pPr indent="0" marL="0">
              <a:buNone/>
            </a:pPr>
            <a:r>
              <a:rPr lang="en-US" sz="1000" dirty="0">
                <a:solidFill>
                  <a:srgbClr val="55493D"/>
                </a:solidFill>
                <a:latin typeface="Calibri" pitchFamily="34" charset="0"/>
                <a:ea typeface="Calibri" pitchFamily="34" charset="-122"/>
                <a:cs typeface="Calibri" pitchFamily="34" charset="-120"/>
              </a:rPr>
              <a:t>gross margin at steady state</a:t>
            </a:r>
            <a:endParaRPr lang="en-US" sz="1000" dirty="0"/>
          </a:p>
        </p:txBody>
      </p:sp>
      <p:sp>
        <p:nvSpPr>
          <p:cNvPr id="11" name="Shape 8"/>
          <p:cNvSpPr/>
          <p:nvPr/>
        </p:nvSpPr>
        <p:spPr>
          <a:xfrm>
            <a:off x="5897880" y="3108960"/>
            <a:ext cx="2788920" cy="658368"/>
          </a:xfrm>
          <a:prstGeom prst="roundRect">
            <a:avLst>
              <a:gd name="adj" fmla="val 11111"/>
            </a:avLst>
          </a:prstGeom>
          <a:solidFill>
            <a:srgbClr val="F6F2EA"/>
          </a:solidFill>
          <a:ln/>
        </p:spPr>
      </p:sp>
      <p:sp>
        <p:nvSpPr>
          <p:cNvPr id="12" name="Text 9"/>
          <p:cNvSpPr/>
          <p:nvPr/>
        </p:nvSpPr>
        <p:spPr>
          <a:xfrm>
            <a:off x="6035040" y="3108960"/>
            <a:ext cx="1234440" cy="658368"/>
          </a:xfrm>
          <a:prstGeom prst="rect">
            <a:avLst/>
          </a:prstGeom>
          <a:noFill/>
          <a:ln/>
        </p:spPr>
        <p:txBody>
          <a:bodyPr wrap="square" lIns="0" tIns="0" rIns="0" bIns="0" rtlCol="0" anchor="ctr"/>
          <a:lstStyle/>
          <a:p>
            <a:pPr indent="0" marL="0">
              <a:buNone/>
            </a:pPr>
            <a:r>
              <a:rPr lang="en-US" sz="1900" b="1" dirty="0">
                <a:solidFill>
                  <a:srgbClr val="D8A24A"/>
                </a:solidFill>
                <a:latin typeface="Cambria" pitchFamily="34" charset="0"/>
                <a:ea typeface="Cambria" pitchFamily="34" charset="-122"/>
                <a:cs typeface="Cambria" pitchFamily="34" charset="-120"/>
              </a:rPr>
              <a:t>Month 16</a:t>
            </a:r>
            <a:endParaRPr lang="en-US" sz="1900" dirty="0"/>
          </a:p>
        </p:txBody>
      </p:sp>
      <p:sp>
        <p:nvSpPr>
          <p:cNvPr id="13" name="Text 10"/>
          <p:cNvSpPr/>
          <p:nvPr/>
        </p:nvSpPr>
        <p:spPr>
          <a:xfrm>
            <a:off x="7269480" y="3108960"/>
            <a:ext cx="1325880" cy="658368"/>
          </a:xfrm>
          <a:prstGeom prst="rect">
            <a:avLst/>
          </a:prstGeom>
          <a:noFill/>
          <a:ln/>
        </p:spPr>
        <p:txBody>
          <a:bodyPr wrap="square" lIns="0" tIns="0" rIns="0" bIns="0" rtlCol="0" anchor="ctr"/>
          <a:lstStyle/>
          <a:p>
            <a:pPr indent="0" marL="0">
              <a:buNone/>
            </a:pPr>
            <a:r>
              <a:rPr lang="en-US" sz="1000" dirty="0">
                <a:solidFill>
                  <a:srgbClr val="55493D"/>
                </a:solidFill>
                <a:latin typeface="Calibri" pitchFamily="34" charset="0"/>
                <a:ea typeface="Calibri" pitchFamily="34" charset="-122"/>
                <a:cs typeface="Calibri" pitchFamily="34" charset="-120"/>
              </a:rPr>
              <a:t>cash break-even</a:t>
            </a:r>
            <a:endParaRPr lang="en-US" sz="1000" dirty="0"/>
          </a:p>
        </p:txBody>
      </p:sp>
      <p:sp>
        <p:nvSpPr>
          <p:cNvPr id="14" name="Shape 11"/>
          <p:cNvSpPr/>
          <p:nvPr/>
        </p:nvSpPr>
        <p:spPr>
          <a:xfrm>
            <a:off x="5897880" y="3877056"/>
            <a:ext cx="2788920" cy="658368"/>
          </a:xfrm>
          <a:prstGeom prst="roundRect">
            <a:avLst>
              <a:gd name="adj" fmla="val 11111"/>
            </a:avLst>
          </a:prstGeom>
          <a:solidFill>
            <a:srgbClr val="F6F2EA"/>
          </a:solidFill>
          <a:ln/>
        </p:spPr>
      </p:sp>
      <p:sp>
        <p:nvSpPr>
          <p:cNvPr id="15" name="Text 12"/>
          <p:cNvSpPr/>
          <p:nvPr/>
        </p:nvSpPr>
        <p:spPr>
          <a:xfrm>
            <a:off x="6035040" y="3877056"/>
            <a:ext cx="1234440" cy="658368"/>
          </a:xfrm>
          <a:prstGeom prst="rect">
            <a:avLst/>
          </a:prstGeom>
          <a:noFill/>
          <a:ln/>
        </p:spPr>
        <p:txBody>
          <a:bodyPr wrap="square" lIns="0" tIns="0" rIns="0" bIns="0" rtlCol="0" anchor="ctr"/>
          <a:lstStyle/>
          <a:p>
            <a:pPr indent="0" marL="0">
              <a:buNone/>
            </a:pPr>
            <a:r>
              <a:rPr lang="en-US" sz="1900" b="1" dirty="0">
                <a:solidFill>
                  <a:srgbClr val="262019"/>
                </a:solidFill>
                <a:latin typeface="Cambria" pitchFamily="34" charset="0"/>
                <a:ea typeface="Cambria" pitchFamily="34" charset="-122"/>
                <a:cs typeface="Cambria" pitchFamily="34" charset="-120"/>
              </a:rPr>
              <a:t>~3 yrs</a:t>
            </a:r>
            <a:endParaRPr lang="en-US" sz="1900" dirty="0"/>
          </a:p>
        </p:txBody>
      </p:sp>
      <p:sp>
        <p:nvSpPr>
          <p:cNvPr id="16" name="Text 13"/>
          <p:cNvSpPr/>
          <p:nvPr/>
        </p:nvSpPr>
        <p:spPr>
          <a:xfrm>
            <a:off x="7269480" y="3877056"/>
            <a:ext cx="1325880" cy="658368"/>
          </a:xfrm>
          <a:prstGeom prst="rect">
            <a:avLst/>
          </a:prstGeom>
          <a:noFill/>
          <a:ln/>
        </p:spPr>
        <p:txBody>
          <a:bodyPr wrap="square" lIns="0" tIns="0" rIns="0" bIns="0" rtlCol="0" anchor="ctr"/>
          <a:lstStyle/>
          <a:p>
            <a:pPr indent="0" marL="0">
              <a:buNone/>
            </a:pPr>
            <a:r>
              <a:rPr lang="en-US" sz="1000" dirty="0">
                <a:solidFill>
                  <a:srgbClr val="55493D"/>
                </a:solidFill>
                <a:latin typeface="Calibri" pitchFamily="34" charset="0"/>
                <a:ea typeface="Calibri" pitchFamily="34" charset="-122"/>
                <a:cs typeface="Calibri" pitchFamily="34" charset="-120"/>
              </a:rPr>
              <a:t>payback on total investment</a:t>
            </a:r>
            <a:endParaRPr lang="en-US" sz="1000" dirty="0"/>
          </a:p>
        </p:txBody>
      </p:sp>
      <p:sp>
        <p:nvSpPr>
          <p:cNvPr id="17" name="Text 14"/>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Projections are founder estimates (conservative case), to be validated by soil test and supplier quotes. Year 1 includes ramp-up.</a:t>
            </a:r>
            <a:endParaRPr lang="en-US" sz="800" dirty="0"/>
          </a:p>
        </p:txBody>
      </p:sp>
      <p:sp>
        <p:nvSpPr>
          <p:cNvPr id="18" name="Text 15"/>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62019"/>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D8A24A"/>
                </a:solidFill>
                <a:latin typeface="Calibri" pitchFamily="34" charset="0"/>
                <a:ea typeface="Calibri" pitchFamily="34" charset="-122"/>
                <a:cs typeface="Calibri" pitchFamily="34" charset="-120"/>
              </a:rPr>
              <a:t>THE ASK</a:t>
            </a:r>
            <a:endParaRPr lang="en-US" sz="12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We are raising  </a:t>
            </a:r>
            <a:pPr indent="0" marL="0">
              <a:buNone/>
            </a:pPr>
            <a:r>
              <a:rPr lang="en-US" sz="3200" b="1" dirty="0">
                <a:solidFill>
                  <a:srgbClr val="B85042"/>
                </a:solidFill>
                <a:latin typeface="Cambria" pitchFamily="34" charset="0"/>
                <a:ea typeface="Cambria" pitchFamily="34" charset="-122"/>
                <a:cs typeface="Cambria" pitchFamily="34" charset="-120"/>
              </a:rPr>
              <a:t>₹75 lakh</a:t>
            </a:r>
            <a:pPr indent="0" marL="0">
              <a:buNone/>
            </a:pPr>
            <a:r>
              <a:rPr lang="en-US" sz="3200" b="1" dirty="0">
                <a:solidFill>
                  <a:srgbClr val="BCAE9C"/>
                </a:solidFill>
                <a:latin typeface="Cambria" pitchFamily="34" charset="0"/>
                <a:ea typeface="Cambria" pitchFamily="34" charset="-122"/>
                <a:cs typeface="Cambria" pitchFamily="34" charset="-120"/>
              </a:rPr>
              <a:t>   (~£71,000)</a:t>
            </a:r>
            <a:endParaRPr lang="en-US" sz="3200" dirty="0"/>
          </a:p>
        </p:txBody>
      </p:sp>
      <p:sp>
        <p:nvSpPr>
          <p:cNvPr id="4" name="Text 2"/>
          <p:cNvSpPr/>
          <p:nvPr/>
        </p:nvSpPr>
        <p:spPr>
          <a:xfrm>
            <a:off x="548640" y="16916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Machinery — 2 CEB presses</a:t>
            </a:r>
            <a:endParaRPr lang="en-US" sz="1150" dirty="0"/>
          </a:p>
        </p:txBody>
      </p:sp>
      <p:sp>
        <p:nvSpPr>
          <p:cNvPr id="5" name="Shape 3"/>
          <p:cNvSpPr/>
          <p:nvPr/>
        </p:nvSpPr>
        <p:spPr>
          <a:xfrm>
            <a:off x="3337560" y="1719072"/>
            <a:ext cx="4937760" cy="310896"/>
          </a:xfrm>
          <a:prstGeom prst="roundRect">
            <a:avLst>
              <a:gd name="adj" fmla="val 11765"/>
            </a:avLst>
          </a:prstGeom>
          <a:solidFill>
            <a:srgbClr val="B85042"/>
          </a:solidFill>
          <a:ln/>
        </p:spPr>
      </p:sp>
      <p:sp>
        <p:nvSpPr>
          <p:cNvPr id="6" name="Text 4"/>
          <p:cNvSpPr/>
          <p:nvPr/>
        </p:nvSpPr>
        <p:spPr>
          <a:xfrm>
            <a:off x="3429000" y="17190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₹32L</a:t>
            </a:r>
            <a:endParaRPr lang="en-US" sz="1100" dirty="0"/>
          </a:p>
        </p:txBody>
      </p:sp>
      <p:sp>
        <p:nvSpPr>
          <p:cNvPr id="7" name="Text 5"/>
          <p:cNvSpPr/>
          <p:nvPr/>
        </p:nvSpPr>
        <p:spPr>
          <a:xfrm>
            <a:off x="548640" y="21488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Working capital (6 months)</a:t>
            </a:r>
            <a:endParaRPr lang="en-US" sz="1150" dirty="0"/>
          </a:p>
        </p:txBody>
      </p:sp>
      <p:sp>
        <p:nvSpPr>
          <p:cNvPr id="8" name="Shape 6"/>
          <p:cNvSpPr/>
          <p:nvPr/>
        </p:nvSpPr>
        <p:spPr>
          <a:xfrm>
            <a:off x="3337560" y="2176272"/>
            <a:ext cx="2777490" cy="310896"/>
          </a:xfrm>
          <a:prstGeom prst="roundRect">
            <a:avLst>
              <a:gd name="adj" fmla="val 11765"/>
            </a:avLst>
          </a:prstGeom>
          <a:solidFill>
            <a:srgbClr val="D8A24A"/>
          </a:solidFill>
          <a:ln/>
        </p:spPr>
      </p:sp>
      <p:sp>
        <p:nvSpPr>
          <p:cNvPr id="9" name="Text 7"/>
          <p:cNvSpPr/>
          <p:nvPr/>
        </p:nvSpPr>
        <p:spPr>
          <a:xfrm>
            <a:off x="3429000" y="21762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₹18L</a:t>
            </a:r>
            <a:endParaRPr lang="en-US" sz="1100" dirty="0"/>
          </a:p>
        </p:txBody>
      </p:sp>
      <p:sp>
        <p:nvSpPr>
          <p:cNvPr id="10" name="Text 8"/>
          <p:cNvSpPr/>
          <p:nvPr/>
        </p:nvSpPr>
        <p:spPr>
          <a:xfrm>
            <a:off x="548640" y="26060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Factory construction</a:t>
            </a:r>
            <a:endParaRPr lang="en-US" sz="1150" dirty="0"/>
          </a:p>
        </p:txBody>
      </p:sp>
      <p:sp>
        <p:nvSpPr>
          <p:cNvPr id="11" name="Shape 9"/>
          <p:cNvSpPr/>
          <p:nvPr/>
        </p:nvSpPr>
        <p:spPr>
          <a:xfrm>
            <a:off x="3337560" y="2633472"/>
            <a:ext cx="1851660" cy="310896"/>
          </a:xfrm>
          <a:prstGeom prst="roundRect">
            <a:avLst>
              <a:gd name="adj" fmla="val 11765"/>
            </a:avLst>
          </a:prstGeom>
          <a:solidFill>
            <a:srgbClr val="C98B6E"/>
          </a:solidFill>
          <a:ln/>
        </p:spPr>
      </p:sp>
      <p:sp>
        <p:nvSpPr>
          <p:cNvPr id="12" name="Text 10"/>
          <p:cNvSpPr/>
          <p:nvPr/>
        </p:nvSpPr>
        <p:spPr>
          <a:xfrm>
            <a:off x="3429000" y="26334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₹12L</a:t>
            </a:r>
            <a:endParaRPr lang="en-US" sz="1100" dirty="0"/>
          </a:p>
        </p:txBody>
      </p:sp>
      <p:sp>
        <p:nvSpPr>
          <p:cNvPr id="13" name="Text 11"/>
          <p:cNvSpPr/>
          <p:nvPr/>
        </p:nvSpPr>
        <p:spPr>
          <a:xfrm>
            <a:off x="548640" y="30632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Land lease deposit</a:t>
            </a:r>
            <a:endParaRPr lang="en-US" sz="1150" dirty="0"/>
          </a:p>
        </p:txBody>
      </p:sp>
      <p:sp>
        <p:nvSpPr>
          <p:cNvPr id="14" name="Shape 12"/>
          <p:cNvSpPr/>
          <p:nvPr/>
        </p:nvSpPr>
        <p:spPr>
          <a:xfrm>
            <a:off x="3337560" y="3090672"/>
            <a:ext cx="1543050" cy="310896"/>
          </a:xfrm>
          <a:prstGeom prst="roundRect">
            <a:avLst>
              <a:gd name="adj" fmla="val 11765"/>
            </a:avLst>
          </a:prstGeom>
          <a:solidFill>
            <a:srgbClr val="5C8A5A"/>
          </a:solidFill>
          <a:ln/>
        </p:spPr>
      </p:sp>
      <p:sp>
        <p:nvSpPr>
          <p:cNvPr id="15" name="Text 13"/>
          <p:cNvSpPr/>
          <p:nvPr/>
        </p:nvSpPr>
        <p:spPr>
          <a:xfrm>
            <a:off x="3429000" y="30906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₹10L</a:t>
            </a:r>
            <a:endParaRPr lang="en-US" sz="1100" dirty="0"/>
          </a:p>
        </p:txBody>
      </p:sp>
      <p:sp>
        <p:nvSpPr>
          <p:cNvPr id="16" name="Text 14"/>
          <p:cNvSpPr/>
          <p:nvPr/>
        </p:nvSpPr>
        <p:spPr>
          <a:xfrm>
            <a:off x="548640" y="35204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Certification &amp; trials</a:t>
            </a:r>
            <a:endParaRPr lang="en-US" sz="1150" dirty="0"/>
          </a:p>
        </p:txBody>
      </p:sp>
      <p:sp>
        <p:nvSpPr>
          <p:cNvPr id="17" name="Shape 15"/>
          <p:cNvSpPr/>
          <p:nvPr/>
        </p:nvSpPr>
        <p:spPr>
          <a:xfrm>
            <a:off x="3337560" y="3547872"/>
            <a:ext cx="462915" cy="310896"/>
          </a:xfrm>
          <a:prstGeom prst="roundRect">
            <a:avLst>
              <a:gd name="adj" fmla="val 11765"/>
            </a:avLst>
          </a:prstGeom>
          <a:solidFill>
            <a:srgbClr val="8FA88C"/>
          </a:solidFill>
          <a:ln/>
        </p:spPr>
      </p:sp>
      <p:sp>
        <p:nvSpPr>
          <p:cNvPr id="18" name="Text 16"/>
          <p:cNvSpPr/>
          <p:nvPr/>
        </p:nvSpPr>
        <p:spPr>
          <a:xfrm>
            <a:off x="3429000" y="35478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₹3L</a:t>
            </a:r>
            <a:endParaRPr lang="en-US" sz="1100" dirty="0"/>
          </a:p>
        </p:txBody>
      </p:sp>
      <p:sp>
        <p:nvSpPr>
          <p:cNvPr id="19" name="Shape 17"/>
          <p:cNvSpPr/>
          <p:nvPr/>
        </p:nvSpPr>
        <p:spPr>
          <a:xfrm>
            <a:off x="548640" y="4069080"/>
            <a:ext cx="3977640" cy="777240"/>
          </a:xfrm>
          <a:prstGeom prst="roundRect">
            <a:avLst>
              <a:gd name="adj" fmla="val 9412"/>
            </a:avLst>
          </a:prstGeom>
          <a:solidFill>
            <a:srgbClr val="32281E"/>
          </a:solidFill>
          <a:ln/>
        </p:spPr>
      </p:sp>
      <p:sp>
        <p:nvSpPr>
          <p:cNvPr id="20" name="Text 18"/>
          <p:cNvSpPr/>
          <p:nvPr/>
        </p:nvSpPr>
        <p:spPr>
          <a:xfrm>
            <a:off x="731520" y="4069080"/>
            <a:ext cx="3657600" cy="777240"/>
          </a:xfrm>
          <a:prstGeom prst="rect">
            <a:avLst/>
          </a:prstGeom>
          <a:noFill/>
          <a:ln/>
        </p:spPr>
        <p:txBody>
          <a:bodyPr wrap="square" lIns="0" tIns="0" rIns="0" bIns="0" rtlCol="0" anchor="ctr"/>
          <a:lstStyle/>
          <a:p>
            <a:pPr indent="0" marL="0">
              <a:buNone/>
            </a:pPr>
            <a:r>
              <a:rPr lang="en-US" sz="1250" b="1" dirty="0">
                <a:solidFill>
                  <a:srgbClr val="D8A24A"/>
                </a:solidFill>
                <a:latin typeface="Calibri" pitchFamily="34" charset="0"/>
                <a:ea typeface="Calibri" pitchFamily="34" charset="-122"/>
                <a:cs typeface="Calibri" pitchFamily="34" charset="-120"/>
              </a:rPr>
              <a:t>For investors:  </a:t>
            </a:r>
            <a:pPr indent="0" marL="0">
              <a:buNone/>
            </a:pPr>
            <a:r>
              <a:rPr lang="en-US" sz="1250" dirty="0">
                <a:solidFill>
                  <a:srgbClr val="EDE7D9"/>
                </a:solidFill>
                <a:latin typeface="Calibri" pitchFamily="34" charset="0"/>
                <a:ea typeface="Calibri" pitchFamily="34" charset="-122"/>
                <a:cs typeface="Calibri" pitchFamily="34" charset="-120"/>
              </a:rPr>
              <a:t>20% equity for ₹40–50 lakh</a:t>
            </a:r>
            <a:endParaRPr lang="en-US" sz="1250" dirty="0"/>
          </a:p>
        </p:txBody>
      </p:sp>
      <p:sp>
        <p:nvSpPr>
          <p:cNvPr id="21" name="Shape 19"/>
          <p:cNvSpPr/>
          <p:nvPr/>
        </p:nvSpPr>
        <p:spPr>
          <a:xfrm>
            <a:off x="4709160" y="4069080"/>
            <a:ext cx="3977640" cy="777240"/>
          </a:xfrm>
          <a:prstGeom prst="roundRect">
            <a:avLst>
              <a:gd name="adj" fmla="val 9412"/>
            </a:avLst>
          </a:prstGeom>
          <a:solidFill>
            <a:srgbClr val="32281E"/>
          </a:solidFill>
          <a:ln/>
        </p:spPr>
      </p:sp>
      <p:sp>
        <p:nvSpPr>
          <p:cNvPr id="22" name="Text 20"/>
          <p:cNvSpPr/>
          <p:nvPr/>
        </p:nvSpPr>
        <p:spPr>
          <a:xfrm>
            <a:off x="4892040" y="4069080"/>
            <a:ext cx="3657600" cy="777240"/>
          </a:xfrm>
          <a:prstGeom prst="rect">
            <a:avLst/>
          </a:prstGeom>
          <a:noFill/>
          <a:ln/>
        </p:spPr>
        <p:txBody>
          <a:bodyPr wrap="square" lIns="0" tIns="0" rIns="0" bIns="0" rtlCol="0" anchor="ctr"/>
          <a:lstStyle/>
          <a:p>
            <a:pPr indent="0" marL="0">
              <a:buNone/>
            </a:pPr>
            <a:r>
              <a:rPr lang="en-US" sz="1250" b="1" dirty="0">
                <a:solidFill>
                  <a:srgbClr val="5C8A5A"/>
                </a:solidFill>
                <a:latin typeface="Calibri" pitchFamily="34" charset="0"/>
                <a:ea typeface="Calibri" pitchFamily="34" charset="-122"/>
                <a:cs typeface="Calibri" pitchFamily="34" charset="-120"/>
              </a:rPr>
              <a:t>Or debt:  </a:t>
            </a:r>
            <a:pPr indent="0" marL="0">
              <a:buNone/>
            </a:pPr>
            <a:r>
              <a:rPr lang="en-US" sz="1250" dirty="0">
                <a:solidFill>
                  <a:srgbClr val="EDE7D9"/>
                </a:solidFill>
                <a:latin typeface="Calibri" pitchFamily="34" charset="0"/>
                <a:ea typeface="Calibri" pitchFamily="34" charset="-122"/>
                <a:cs typeface="Calibri" pitchFamily="34" charset="-120"/>
              </a:rPr>
              <a:t>₹35L MSME loan, plant as collateral</a:t>
            </a:r>
            <a:endParaRPr lang="en-US" sz="1250" dirty="0"/>
          </a:p>
        </p:txBody>
      </p:sp>
      <p:sp>
        <p:nvSpPr>
          <p:cNvPr id="23" name="Text 21"/>
          <p:cNvSpPr/>
          <p:nvPr/>
        </p:nvSpPr>
        <p:spPr>
          <a:xfrm>
            <a:off x="7040880" y="1143000"/>
            <a:ext cx="1645920" cy="274320"/>
          </a:xfrm>
          <a:prstGeom prst="rect">
            <a:avLst/>
          </a:prstGeom>
          <a:noFill/>
          <a:ln/>
        </p:spPr>
        <p:txBody>
          <a:bodyPr wrap="square" lIns="0" tIns="0" rIns="0" bIns="0" rtlCol="0" anchor="ctr"/>
          <a:lstStyle/>
          <a:p>
            <a:pPr algn="r" indent="0" marL="0">
              <a:buNone/>
            </a:pPr>
            <a:r>
              <a:rPr lang="en-US" sz="900" i="1" dirty="0">
                <a:solidFill>
                  <a:srgbClr val="7A6E60"/>
                </a:solidFill>
                <a:latin typeface="Calibri" pitchFamily="34" charset="0"/>
                <a:ea typeface="Calibri" pitchFamily="34" charset="-122"/>
                <a:cs typeface="Calibri" pitchFamily="34" charset="-120"/>
              </a:rPr>
              <a:t>≈ at ₹106 / £</a:t>
            </a:r>
            <a:endParaRPr lang="en-US" sz="900" dirty="0"/>
          </a:p>
        </p:txBody>
      </p:sp>
      <p:sp>
        <p:nvSpPr>
          <p:cNvPr id="24" name="Text 22"/>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From soil test to a second plant in 24 months</a:t>
            </a:r>
            <a:endParaRPr lang="en-US" sz="2500" dirty="0"/>
          </a:p>
        </p:txBody>
      </p:sp>
      <p:sp>
        <p:nvSpPr>
          <p:cNvPr id="4" name="Shape 2"/>
          <p:cNvSpPr/>
          <p:nvPr/>
        </p:nvSpPr>
        <p:spPr>
          <a:xfrm>
            <a:off x="914400" y="2331720"/>
            <a:ext cx="7315200" cy="0"/>
          </a:xfrm>
          <a:prstGeom prst="line">
            <a:avLst/>
          </a:prstGeom>
          <a:noFill/>
          <a:ln w="25400">
            <a:solidFill>
              <a:srgbClr val="DCD2C2"/>
            </a:solidFill>
            <a:prstDash val="solid"/>
          </a:ln>
        </p:spPr>
      </p:sp>
      <p:sp>
        <p:nvSpPr>
          <p:cNvPr id="5" name="Shape 3"/>
          <p:cNvSpPr/>
          <p:nvPr/>
        </p:nvSpPr>
        <p:spPr>
          <a:xfrm>
            <a:off x="1344168" y="2194560"/>
            <a:ext cx="274320" cy="274320"/>
          </a:xfrm>
          <a:prstGeom prst="ellipse">
            <a:avLst/>
          </a:prstGeom>
          <a:solidFill>
            <a:srgbClr val="B85042"/>
          </a:solidFill>
          <a:ln w="25400">
            <a:solidFill>
              <a:srgbClr val="FFFFFF"/>
            </a:solidFill>
            <a:prstDash val="solid"/>
          </a:ln>
        </p:spPr>
      </p:sp>
      <p:sp>
        <p:nvSpPr>
          <p:cNvPr id="6" name="Shape 4"/>
          <p:cNvSpPr/>
          <p:nvPr/>
        </p:nvSpPr>
        <p:spPr>
          <a:xfrm>
            <a:off x="777240" y="123444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7" name="Text 5"/>
          <p:cNvSpPr/>
          <p:nvPr/>
        </p:nvSpPr>
        <p:spPr>
          <a:xfrm>
            <a:off x="868680" y="1307592"/>
            <a:ext cx="1280160" cy="274320"/>
          </a:xfrm>
          <a:prstGeom prst="rect">
            <a:avLst/>
          </a:prstGeom>
          <a:noFill/>
          <a:ln/>
        </p:spPr>
        <p:txBody>
          <a:bodyPr wrap="square" lIns="0" tIns="0" rIns="0" bIns="0" rtlCol="0" anchor="ctr"/>
          <a:lstStyle/>
          <a:p>
            <a:pPr indent="0" marL="0">
              <a:buNone/>
            </a:pPr>
            <a:r>
              <a:rPr lang="en-US" sz="1000" b="1" dirty="0">
                <a:solidFill>
                  <a:srgbClr val="B85042"/>
                </a:solidFill>
                <a:latin typeface="Calibri" pitchFamily="34" charset="0"/>
                <a:ea typeface="Calibri" pitchFamily="34" charset="-122"/>
                <a:cs typeface="Calibri" pitchFamily="34" charset="-120"/>
              </a:rPr>
              <a:t>Q1–Q2 '26</a:t>
            </a:r>
            <a:endParaRPr lang="en-US" sz="1000" dirty="0"/>
          </a:p>
        </p:txBody>
      </p:sp>
      <p:sp>
        <p:nvSpPr>
          <p:cNvPr id="8" name="Text 6"/>
          <p:cNvSpPr/>
          <p:nvPr/>
        </p:nvSpPr>
        <p:spPr>
          <a:xfrm>
            <a:off x="868680" y="152704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Build</a:t>
            </a:r>
            <a:endParaRPr lang="en-US" sz="1400" dirty="0"/>
          </a:p>
        </p:txBody>
      </p:sp>
      <p:sp>
        <p:nvSpPr>
          <p:cNvPr id="9" name="Text 7"/>
          <p:cNvSpPr/>
          <p:nvPr/>
        </p:nvSpPr>
        <p:spPr>
          <a:xfrm>
            <a:off x="868680" y="180136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Register · soil test · land · machine order</a:t>
            </a:r>
            <a:endParaRPr lang="en-US" sz="850" dirty="0"/>
          </a:p>
        </p:txBody>
      </p:sp>
      <p:sp>
        <p:nvSpPr>
          <p:cNvPr id="10" name="Shape 8"/>
          <p:cNvSpPr/>
          <p:nvPr/>
        </p:nvSpPr>
        <p:spPr>
          <a:xfrm>
            <a:off x="3017520" y="2194560"/>
            <a:ext cx="274320" cy="274320"/>
          </a:xfrm>
          <a:prstGeom prst="ellipse">
            <a:avLst/>
          </a:prstGeom>
          <a:solidFill>
            <a:srgbClr val="D8A24A"/>
          </a:solidFill>
          <a:ln w="25400">
            <a:solidFill>
              <a:srgbClr val="FFFFFF"/>
            </a:solidFill>
            <a:prstDash val="solid"/>
          </a:ln>
        </p:spPr>
      </p:sp>
      <p:sp>
        <p:nvSpPr>
          <p:cNvPr id="11" name="Shape 9"/>
          <p:cNvSpPr/>
          <p:nvPr/>
        </p:nvSpPr>
        <p:spPr>
          <a:xfrm>
            <a:off x="2450592" y="269748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12" name="Text 10"/>
          <p:cNvSpPr/>
          <p:nvPr/>
        </p:nvSpPr>
        <p:spPr>
          <a:xfrm>
            <a:off x="2542032" y="2770632"/>
            <a:ext cx="1280160" cy="274320"/>
          </a:xfrm>
          <a:prstGeom prst="rect">
            <a:avLst/>
          </a:prstGeom>
          <a:noFill/>
          <a:ln/>
        </p:spPr>
        <p:txBody>
          <a:bodyPr wrap="square" lIns="0" tIns="0" rIns="0" bIns="0" rtlCol="0" anchor="ctr"/>
          <a:lstStyle/>
          <a:p>
            <a:pPr indent="0" marL="0">
              <a:buNone/>
            </a:pPr>
            <a:r>
              <a:rPr lang="en-US" sz="1000" b="1" dirty="0">
                <a:solidFill>
                  <a:srgbClr val="D8A24A"/>
                </a:solidFill>
                <a:latin typeface="Calibri" pitchFamily="34" charset="0"/>
                <a:ea typeface="Calibri" pitchFamily="34" charset="-122"/>
                <a:cs typeface="Calibri" pitchFamily="34" charset="-120"/>
              </a:rPr>
              <a:t>Q3 '26</a:t>
            </a:r>
            <a:endParaRPr lang="en-US" sz="1000" dirty="0"/>
          </a:p>
        </p:txBody>
      </p:sp>
      <p:sp>
        <p:nvSpPr>
          <p:cNvPr id="13" name="Text 11"/>
          <p:cNvSpPr/>
          <p:nvPr/>
        </p:nvSpPr>
        <p:spPr>
          <a:xfrm>
            <a:off x="2542032" y="299008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First brick</a:t>
            </a:r>
            <a:endParaRPr lang="en-US" sz="1400" dirty="0"/>
          </a:p>
        </p:txBody>
      </p:sp>
      <p:sp>
        <p:nvSpPr>
          <p:cNvPr id="14" name="Text 12"/>
          <p:cNvSpPr/>
          <p:nvPr/>
        </p:nvSpPr>
        <p:spPr>
          <a:xfrm>
            <a:off x="2542032" y="326440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Trial run · BIS test · pilot buyers</a:t>
            </a:r>
            <a:endParaRPr lang="en-US" sz="850" dirty="0"/>
          </a:p>
        </p:txBody>
      </p:sp>
      <p:sp>
        <p:nvSpPr>
          <p:cNvPr id="15" name="Shape 13"/>
          <p:cNvSpPr/>
          <p:nvPr/>
        </p:nvSpPr>
        <p:spPr>
          <a:xfrm>
            <a:off x="4690872" y="2194560"/>
            <a:ext cx="274320" cy="274320"/>
          </a:xfrm>
          <a:prstGeom prst="ellipse">
            <a:avLst/>
          </a:prstGeom>
          <a:solidFill>
            <a:srgbClr val="C98B6E"/>
          </a:solidFill>
          <a:ln w="25400">
            <a:solidFill>
              <a:srgbClr val="FFFFFF"/>
            </a:solidFill>
            <a:prstDash val="solid"/>
          </a:ln>
        </p:spPr>
      </p:sp>
      <p:sp>
        <p:nvSpPr>
          <p:cNvPr id="16" name="Shape 14"/>
          <p:cNvSpPr/>
          <p:nvPr/>
        </p:nvSpPr>
        <p:spPr>
          <a:xfrm>
            <a:off x="4123944" y="123444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17" name="Text 15"/>
          <p:cNvSpPr/>
          <p:nvPr/>
        </p:nvSpPr>
        <p:spPr>
          <a:xfrm>
            <a:off x="4215384" y="1307592"/>
            <a:ext cx="1280160" cy="274320"/>
          </a:xfrm>
          <a:prstGeom prst="rect">
            <a:avLst/>
          </a:prstGeom>
          <a:noFill/>
          <a:ln/>
        </p:spPr>
        <p:txBody>
          <a:bodyPr wrap="square" lIns="0" tIns="0" rIns="0" bIns="0" rtlCol="0" anchor="ctr"/>
          <a:lstStyle/>
          <a:p>
            <a:pPr indent="0" marL="0">
              <a:buNone/>
            </a:pPr>
            <a:r>
              <a:rPr lang="en-US" sz="1000" b="1" dirty="0">
                <a:solidFill>
                  <a:srgbClr val="C98B6E"/>
                </a:solidFill>
                <a:latin typeface="Calibri" pitchFamily="34" charset="0"/>
                <a:ea typeface="Calibri" pitchFamily="34" charset="-122"/>
                <a:cs typeface="Calibri" pitchFamily="34" charset="-120"/>
              </a:rPr>
              <a:t>Q4 '26</a:t>
            </a:r>
            <a:endParaRPr lang="en-US" sz="1000" dirty="0"/>
          </a:p>
        </p:txBody>
      </p:sp>
      <p:sp>
        <p:nvSpPr>
          <p:cNvPr id="18" name="Text 16"/>
          <p:cNvSpPr/>
          <p:nvPr/>
        </p:nvSpPr>
        <p:spPr>
          <a:xfrm>
            <a:off x="4215384" y="152704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Launch</a:t>
            </a:r>
            <a:endParaRPr lang="en-US" sz="1400" dirty="0"/>
          </a:p>
        </p:txBody>
      </p:sp>
      <p:sp>
        <p:nvSpPr>
          <p:cNvPr id="19" name="Text 17"/>
          <p:cNvSpPr/>
          <p:nvPr/>
        </p:nvSpPr>
        <p:spPr>
          <a:xfrm>
            <a:off x="4215384" y="180136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Full sales · 10 builders · go digital</a:t>
            </a:r>
            <a:endParaRPr lang="en-US" sz="850" dirty="0"/>
          </a:p>
        </p:txBody>
      </p:sp>
      <p:sp>
        <p:nvSpPr>
          <p:cNvPr id="20" name="Shape 18"/>
          <p:cNvSpPr/>
          <p:nvPr/>
        </p:nvSpPr>
        <p:spPr>
          <a:xfrm>
            <a:off x="6364224" y="2194560"/>
            <a:ext cx="274320" cy="274320"/>
          </a:xfrm>
          <a:prstGeom prst="ellipse">
            <a:avLst/>
          </a:prstGeom>
          <a:solidFill>
            <a:srgbClr val="5C8A5A"/>
          </a:solidFill>
          <a:ln w="25400">
            <a:solidFill>
              <a:srgbClr val="FFFFFF"/>
            </a:solidFill>
            <a:prstDash val="solid"/>
          </a:ln>
        </p:spPr>
      </p:sp>
      <p:sp>
        <p:nvSpPr>
          <p:cNvPr id="21" name="Shape 19"/>
          <p:cNvSpPr/>
          <p:nvPr/>
        </p:nvSpPr>
        <p:spPr>
          <a:xfrm>
            <a:off x="5797296" y="269748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22" name="Text 20"/>
          <p:cNvSpPr/>
          <p:nvPr/>
        </p:nvSpPr>
        <p:spPr>
          <a:xfrm>
            <a:off x="5888736" y="2770632"/>
            <a:ext cx="1280160" cy="274320"/>
          </a:xfrm>
          <a:prstGeom prst="rect">
            <a:avLst/>
          </a:prstGeom>
          <a:noFill/>
          <a:ln/>
        </p:spPr>
        <p:txBody>
          <a:bodyPr wrap="square" lIns="0" tIns="0" rIns="0" bIns="0" rtlCol="0" anchor="ctr"/>
          <a:lstStyle/>
          <a:p>
            <a:pPr indent="0" marL="0">
              <a:buNone/>
            </a:pPr>
            <a:r>
              <a:rPr lang="en-US" sz="1000" b="1" dirty="0">
                <a:solidFill>
                  <a:srgbClr val="5C8A5A"/>
                </a:solidFill>
                <a:latin typeface="Calibri" pitchFamily="34" charset="0"/>
                <a:ea typeface="Calibri" pitchFamily="34" charset="-122"/>
                <a:cs typeface="Calibri" pitchFamily="34" charset="-120"/>
              </a:rPr>
              <a:t>Q1–Q2 '27</a:t>
            </a:r>
            <a:endParaRPr lang="en-US" sz="1000" dirty="0"/>
          </a:p>
        </p:txBody>
      </p:sp>
      <p:sp>
        <p:nvSpPr>
          <p:cNvPr id="23" name="Text 21"/>
          <p:cNvSpPr/>
          <p:nvPr/>
        </p:nvSpPr>
        <p:spPr>
          <a:xfrm>
            <a:off x="5888736" y="299008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Break-even</a:t>
            </a:r>
            <a:endParaRPr lang="en-US" sz="1400" dirty="0"/>
          </a:p>
        </p:txBody>
      </p:sp>
      <p:sp>
        <p:nvSpPr>
          <p:cNvPr id="24" name="Text 22"/>
          <p:cNvSpPr/>
          <p:nvPr/>
        </p:nvSpPr>
        <p:spPr>
          <a:xfrm>
            <a:off x="5888736" y="326440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IGBC cert · first supply contract</a:t>
            </a:r>
            <a:endParaRPr lang="en-US" sz="850" dirty="0"/>
          </a:p>
        </p:txBody>
      </p:sp>
      <p:sp>
        <p:nvSpPr>
          <p:cNvPr id="25" name="Shape 23"/>
          <p:cNvSpPr/>
          <p:nvPr/>
        </p:nvSpPr>
        <p:spPr>
          <a:xfrm>
            <a:off x="8037576" y="2194560"/>
            <a:ext cx="274320" cy="274320"/>
          </a:xfrm>
          <a:prstGeom prst="ellipse">
            <a:avLst/>
          </a:prstGeom>
          <a:solidFill>
            <a:srgbClr val="262019"/>
          </a:solidFill>
          <a:ln w="25400">
            <a:solidFill>
              <a:srgbClr val="FFFFFF"/>
            </a:solidFill>
            <a:prstDash val="solid"/>
          </a:ln>
        </p:spPr>
      </p:sp>
      <p:sp>
        <p:nvSpPr>
          <p:cNvPr id="26" name="Shape 24"/>
          <p:cNvSpPr/>
          <p:nvPr/>
        </p:nvSpPr>
        <p:spPr>
          <a:xfrm>
            <a:off x="7470648" y="123444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27" name="Text 25"/>
          <p:cNvSpPr/>
          <p:nvPr/>
        </p:nvSpPr>
        <p:spPr>
          <a:xfrm>
            <a:off x="7562088" y="1307592"/>
            <a:ext cx="1280160" cy="274320"/>
          </a:xfrm>
          <a:prstGeom prst="rect">
            <a:avLst/>
          </a:prstGeom>
          <a:noFill/>
          <a:ln/>
        </p:spPr>
        <p:txBody>
          <a:bodyPr wrap="square" lIns="0" tIns="0" rIns="0" bIns="0" rtlCol="0" anchor="ctr"/>
          <a:lstStyle/>
          <a:p>
            <a:pPr indent="0" marL="0">
              <a:buNone/>
            </a:pPr>
            <a:r>
              <a:rPr lang="en-US" sz="1000" b="1" dirty="0">
                <a:solidFill>
                  <a:srgbClr val="8F3D31"/>
                </a:solidFill>
                <a:latin typeface="Calibri" pitchFamily="34" charset="0"/>
                <a:ea typeface="Calibri" pitchFamily="34" charset="-122"/>
                <a:cs typeface="Calibri" pitchFamily="34" charset="-120"/>
              </a:rPr>
              <a:t>H2 '27</a:t>
            </a:r>
            <a:endParaRPr lang="en-US" sz="1000" dirty="0"/>
          </a:p>
        </p:txBody>
      </p:sp>
      <p:sp>
        <p:nvSpPr>
          <p:cNvPr id="28" name="Text 26"/>
          <p:cNvSpPr/>
          <p:nvPr/>
        </p:nvSpPr>
        <p:spPr>
          <a:xfrm>
            <a:off x="7562088" y="152704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Scale</a:t>
            </a:r>
            <a:endParaRPr lang="en-US" sz="1400" dirty="0"/>
          </a:p>
        </p:txBody>
      </p:sp>
      <p:sp>
        <p:nvSpPr>
          <p:cNvPr id="29" name="Text 27"/>
          <p:cNvSpPr/>
          <p:nvPr/>
        </p:nvSpPr>
        <p:spPr>
          <a:xfrm>
            <a:off x="7562088" y="180136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Plant #2 · ₹1.5 Cr run-rate</a:t>
            </a:r>
            <a:endParaRPr lang="en-US" sz="850" dirty="0"/>
          </a:p>
        </p:txBody>
      </p:sp>
      <p:sp>
        <p:nvSpPr>
          <p:cNvPr id="30" name="Text 28"/>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WHY US</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300" b="1" dirty="0">
                <a:solidFill>
                  <a:srgbClr val="33291F"/>
                </a:solidFill>
                <a:latin typeface="Cambria" pitchFamily="34" charset="0"/>
                <a:ea typeface="Cambria" pitchFamily="34" charset="-122"/>
                <a:cs typeface="Cambria" pitchFamily="34" charset="-120"/>
              </a:rPr>
              <a:t>We analysed 355 competitors before laying a single brick</a:t>
            </a:r>
            <a:endParaRPr lang="en-US" sz="2300" dirty="0"/>
          </a:p>
        </p:txBody>
      </p:sp>
      <p:sp>
        <p:nvSpPr>
          <p:cNvPr id="4" name="Shape 2"/>
          <p:cNvSpPr/>
          <p:nvPr/>
        </p:nvSpPr>
        <p:spPr>
          <a:xfrm>
            <a:off x="548640" y="1600200"/>
            <a:ext cx="3931920" cy="1234440"/>
          </a:xfrm>
          <a:prstGeom prst="roundRect">
            <a:avLst>
              <a:gd name="adj" fmla="val 7407"/>
            </a:avLst>
          </a:prstGeom>
          <a:solidFill>
            <a:srgbClr val="FFFFFF"/>
          </a:solidFill>
          <a:ln/>
          <a:effectLst>
            <a:outerShdw sx="100000" sy="100000" kx="0" ky="0" algn="bl" rotWithShape="0" blurRad="88900" dist="38100" dir="5400000">
              <a:srgbClr val="000000">
                <a:alpha val="16000"/>
              </a:srgbClr>
            </a:outerShdw>
          </a:effectLst>
        </p:spPr>
      </p:sp>
      <p:sp>
        <p:nvSpPr>
          <p:cNvPr id="5" name="Shape 3"/>
          <p:cNvSpPr/>
          <p:nvPr/>
        </p:nvSpPr>
        <p:spPr>
          <a:xfrm>
            <a:off x="777240" y="1874520"/>
            <a:ext cx="658368" cy="658368"/>
          </a:xfrm>
          <a:prstGeom prst="ellipse">
            <a:avLst/>
          </a:prstGeom>
          <a:solidFill>
            <a:srgbClr val="B85042"/>
          </a:solidFill>
          <a:ln/>
        </p:spPr>
      </p:sp>
      <p:pic>
        <p:nvPicPr>
          <p:cNvPr id="6" name="Image 0" descr="preencoded.png">    </p:cNvPr>
          <p:cNvPicPr>
            <a:picLocks noChangeAspect="1"/>
          </p:cNvPicPr>
          <p:nvPr/>
        </p:nvPicPr>
        <p:blipFill>
          <a:blip r:embed="rId1"/>
          <a:stretch>
            <a:fillRect/>
          </a:stretch>
        </p:blipFill>
        <p:spPr>
          <a:xfrm>
            <a:off x="954999" y="2052279"/>
            <a:ext cx="302849" cy="302849"/>
          </a:xfrm>
          <a:prstGeom prst="rect">
            <a:avLst/>
          </a:prstGeom>
        </p:spPr>
      </p:pic>
      <p:sp>
        <p:nvSpPr>
          <p:cNvPr id="7" name="Text 4"/>
          <p:cNvSpPr/>
          <p:nvPr/>
        </p:nvSpPr>
        <p:spPr>
          <a:xfrm>
            <a:off x="1645920" y="1783080"/>
            <a:ext cx="2697480" cy="365760"/>
          </a:xfrm>
          <a:prstGeom prst="rect">
            <a:avLst/>
          </a:prstGeom>
          <a:noFill/>
          <a:ln/>
        </p:spPr>
        <p:txBody>
          <a:bodyPr wrap="square" lIns="0" tIns="0" rIns="0" bIns="0" rtlCol="0" anchor="ctr"/>
          <a:lstStyle/>
          <a:p>
            <a:pPr indent="0" marL="0">
              <a:buNone/>
            </a:pPr>
            <a:r>
              <a:rPr lang="en-US" sz="1700" b="1" dirty="0">
                <a:solidFill>
                  <a:srgbClr val="33291F"/>
                </a:solidFill>
                <a:latin typeface="Cambria" pitchFamily="34" charset="0"/>
                <a:ea typeface="Cambria" pitchFamily="34" charset="-122"/>
                <a:cs typeface="Cambria" pitchFamily="34" charset="-120"/>
              </a:rPr>
              <a:t>First mover</a:t>
            </a:r>
            <a:endParaRPr lang="en-US" sz="1700" dirty="0"/>
          </a:p>
        </p:txBody>
      </p:sp>
      <p:sp>
        <p:nvSpPr>
          <p:cNvPr id="8" name="Text 5"/>
          <p:cNvSpPr/>
          <p:nvPr/>
        </p:nvSpPr>
        <p:spPr>
          <a:xfrm>
            <a:off x="1645920" y="2148840"/>
            <a:ext cx="2697480" cy="64008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The only CSEB producer in a 355-factory market — an 18-month head start.</a:t>
            </a:r>
            <a:endParaRPr lang="en-US" sz="1150" dirty="0"/>
          </a:p>
        </p:txBody>
      </p:sp>
      <p:sp>
        <p:nvSpPr>
          <p:cNvPr id="9" name="Shape 6"/>
          <p:cNvSpPr/>
          <p:nvPr/>
        </p:nvSpPr>
        <p:spPr>
          <a:xfrm>
            <a:off x="4709160" y="1600200"/>
            <a:ext cx="3931920" cy="1234440"/>
          </a:xfrm>
          <a:prstGeom prst="roundRect">
            <a:avLst>
              <a:gd name="adj" fmla="val 7407"/>
            </a:avLst>
          </a:prstGeom>
          <a:solidFill>
            <a:srgbClr val="FFFFFF"/>
          </a:solidFill>
          <a:ln/>
          <a:effectLst>
            <a:outerShdw sx="100000" sy="100000" kx="0" ky="0" algn="bl" rotWithShape="0" blurRad="88900" dist="38100" dir="5400000">
              <a:srgbClr val="000000">
                <a:alpha val="16000"/>
              </a:srgbClr>
            </a:outerShdw>
          </a:effectLst>
        </p:spPr>
      </p:sp>
      <p:sp>
        <p:nvSpPr>
          <p:cNvPr id="10" name="Shape 7"/>
          <p:cNvSpPr/>
          <p:nvPr/>
        </p:nvSpPr>
        <p:spPr>
          <a:xfrm>
            <a:off x="4937760" y="1874520"/>
            <a:ext cx="658368" cy="658368"/>
          </a:xfrm>
          <a:prstGeom prst="ellipse">
            <a:avLst/>
          </a:prstGeom>
          <a:solidFill>
            <a:srgbClr val="5C8A5A"/>
          </a:solidFill>
          <a:ln/>
        </p:spPr>
      </p:sp>
      <p:pic>
        <p:nvPicPr>
          <p:cNvPr id="11" name="Image 1" descr="preencoded.png">    </p:cNvPr>
          <p:cNvPicPr>
            <a:picLocks noChangeAspect="1"/>
          </p:cNvPicPr>
          <p:nvPr/>
        </p:nvPicPr>
        <p:blipFill>
          <a:blip r:embed="rId2"/>
          <a:stretch>
            <a:fillRect/>
          </a:stretch>
        </p:blipFill>
        <p:spPr>
          <a:xfrm>
            <a:off x="5115519" y="2052279"/>
            <a:ext cx="302849" cy="302849"/>
          </a:xfrm>
          <a:prstGeom prst="rect">
            <a:avLst/>
          </a:prstGeom>
        </p:spPr>
      </p:pic>
      <p:sp>
        <p:nvSpPr>
          <p:cNvPr id="12" name="Text 8"/>
          <p:cNvSpPr/>
          <p:nvPr/>
        </p:nvSpPr>
        <p:spPr>
          <a:xfrm>
            <a:off x="5806440" y="1783080"/>
            <a:ext cx="2697480" cy="365760"/>
          </a:xfrm>
          <a:prstGeom prst="rect">
            <a:avLst/>
          </a:prstGeom>
          <a:noFill/>
          <a:ln/>
        </p:spPr>
        <p:txBody>
          <a:bodyPr wrap="square" lIns="0" tIns="0" rIns="0" bIns="0" rtlCol="0" anchor="ctr"/>
          <a:lstStyle/>
          <a:p>
            <a:pPr indent="0" marL="0">
              <a:buNone/>
            </a:pPr>
            <a:r>
              <a:rPr lang="en-US" sz="1700" b="1" dirty="0">
                <a:solidFill>
                  <a:srgbClr val="33291F"/>
                </a:solidFill>
                <a:latin typeface="Cambria" pitchFamily="34" charset="0"/>
                <a:ea typeface="Cambria" pitchFamily="34" charset="-122"/>
                <a:cs typeface="Cambria" pitchFamily="34" charset="-120"/>
              </a:rPr>
              <a:t>Data-driven</a:t>
            </a:r>
            <a:endParaRPr lang="en-US" sz="1700" dirty="0"/>
          </a:p>
        </p:txBody>
      </p:sp>
      <p:sp>
        <p:nvSpPr>
          <p:cNvPr id="13" name="Text 9"/>
          <p:cNvSpPr/>
          <p:nvPr/>
        </p:nvSpPr>
        <p:spPr>
          <a:xfrm>
            <a:off x="5806440" y="2148840"/>
            <a:ext cx="2697480" cy="64008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Location chosen by a 7-factor scored model, not a hunch.</a:t>
            </a:r>
            <a:endParaRPr lang="en-US" sz="1150" dirty="0"/>
          </a:p>
        </p:txBody>
      </p:sp>
      <p:sp>
        <p:nvSpPr>
          <p:cNvPr id="14" name="Shape 10"/>
          <p:cNvSpPr/>
          <p:nvPr/>
        </p:nvSpPr>
        <p:spPr>
          <a:xfrm>
            <a:off x="548640" y="3017520"/>
            <a:ext cx="3931920" cy="1234440"/>
          </a:xfrm>
          <a:prstGeom prst="roundRect">
            <a:avLst>
              <a:gd name="adj" fmla="val 7407"/>
            </a:avLst>
          </a:prstGeom>
          <a:solidFill>
            <a:srgbClr val="FFFFFF"/>
          </a:solidFill>
          <a:ln/>
          <a:effectLst>
            <a:outerShdw sx="100000" sy="100000" kx="0" ky="0" algn="bl" rotWithShape="0" blurRad="88900" dist="38100" dir="5400000">
              <a:srgbClr val="000000">
                <a:alpha val="16000"/>
              </a:srgbClr>
            </a:outerShdw>
          </a:effectLst>
        </p:spPr>
      </p:sp>
      <p:sp>
        <p:nvSpPr>
          <p:cNvPr id="15" name="Shape 11"/>
          <p:cNvSpPr/>
          <p:nvPr/>
        </p:nvSpPr>
        <p:spPr>
          <a:xfrm>
            <a:off x="777240" y="3291840"/>
            <a:ext cx="658368" cy="658368"/>
          </a:xfrm>
          <a:prstGeom prst="ellipse">
            <a:avLst/>
          </a:prstGeom>
          <a:solidFill>
            <a:srgbClr val="D8A24A"/>
          </a:solidFill>
          <a:ln/>
        </p:spPr>
      </p:sp>
      <p:pic>
        <p:nvPicPr>
          <p:cNvPr id="16" name="Image 2" descr="preencoded.png">    </p:cNvPr>
          <p:cNvPicPr>
            <a:picLocks noChangeAspect="1"/>
          </p:cNvPicPr>
          <p:nvPr/>
        </p:nvPicPr>
        <p:blipFill>
          <a:blip r:embed="rId3"/>
          <a:stretch>
            <a:fillRect/>
          </a:stretch>
        </p:blipFill>
        <p:spPr>
          <a:xfrm>
            <a:off x="954999" y="3469599"/>
            <a:ext cx="302849" cy="302849"/>
          </a:xfrm>
          <a:prstGeom prst="rect">
            <a:avLst/>
          </a:prstGeom>
        </p:spPr>
      </p:pic>
      <p:sp>
        <p:nvSpPr>
          <p:cNvPr id="17" name="Text 12"/>
          <p:cNvSpPr/>
          <p:nvPr/>
        </p:nvSpPr>
        <p:spPr>
          <a:xfrm>
            <a:off x="1645920" y="3200400"/>
            <a:ext cx="2697480" cy="365760"/>
          </a:xfrm>
          <a:prstGeom prst="rect">
            <a:avLst/>
          </a:prstGeom>
          <a:noFill/>
          <a:ln/>
        </p:spPr>
        <p:txBody>
          <a:bodyPr wrap="square" lIns="0" tIns="0" rIns="0" bIns="0" rtlCol="0" anchor="ctr"/>
          <a:lstStyle/>
          <a:p>
            <a:pPr indent="0" marL="0">
              <a:buNone/>
            </a:pPr>
            <a:r>
              <a:rPr lang="en-US" sz="1700" b="1" dirty="0">
                <a:solidFill>
                  <a:srgbClr val="33291F"/>
                </a:solidFill>
                <a:latin typeface="Cambria" pitchFamily="34" charset="0"/>
                <a:ea typeface="Cambria" pitchFamily="34" charset="-122"/>
                <a:cs typeface="Cambria" pitchFamily="34" charset="-120"/>
              </a:rPr>
              <a:t>Certification moat</a:t>
            </a:r>
            <a:endParaRPr lang="en-US" sz="1700" dirty="0"/>
          </a:p>
        </p:txBody>
      </p:sp>
      <p:sp>
        <p:nvSpPr>
          <p:cNvPr id="18" name="Text 13"/>
          <p:cNvSpPr/>
          <p:nvPr/>
        </p:nvSpPr>
        <p:spPr>
          <a:xfrm>
            <a:off x="1645920" y="3566160"/>
            <a:ext cx="2697480" cy="64008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BIS + IGBC unlocks government &amp; green-rated projects rivals can't bid for.</a:t>
            </a:r>
            <a:endParaRPr lang="en-US" sz="1150" dirty="0"/>
          </a:p>
        </p:txBody>
      </p:sp>
      <p:sp>
        <p:nvSpPr>
          <p:cNvPr id="19" name="Shape 14"/>
          <p:cNvSpPr/>
          <p:nvPr/>
        </p:nvSpPr>
        <p:spPr>
          <a:xfrm>
            <a:off x="4709160" y="3017520"/>
            <a:ext cx="3931920" cy="1234440"/>
          </a:xfrm>
          <a:prstGeom prst="roundRect">
            <a:avLst>
              <a:gd name="adj" fmla="val 7407"/>
            </a:avLst>
          </a:prstGeom>
          <a:solidFill>
            <a:srgbClr val="FFFFFF"/>
          </a:solidFill>
          <a:ln/>
          <a:effectLst>
            <a:outerShdw sx="100000" sy="100000" kx="0" ky="0" algn="bl" rotWithShape="0" blurRad="88900" dist="38100" dir="5400000">
              <a:srgbClr val="000000">
                <a:alpha val="16000"/>
              </a:srgbClr>
            </a:outerShdw>
          </a:effectLst>
        </p:spPr>
      </p:sp>
      <p:sp>
        <p:nvSpPr>
          <p:cNvPr id="20" name="Shape 15"/>
          <p:cNvSpPr/>
          <p:nvPr/>
        </p:nvSpPr>
        <p:spPr>
          <a:xfrm>
            <a:off x="4937760" y="3291840"/>
            <a:ext cx="658368" cy="658368"/>
          </a:xfrm>
          <a:prstGeom prst="ellipse">
            <a:avLst/>
          </a:prstGeom>
          <a:solidFill>
            <a:srgbClr val="8F3D31"/>
          </a:solidFill>
          <a:ln/>
        </p:spPr>
      </p:sp>
      <p:pic>
        <p:nvPicPr>
          <p:cNvPr id="21" name="Image 3" descr="preencoded.png">    </p:cNvPr>
          <p:cNvPicPr>
            <a:picLocks noChangeAspect="1"/>
          </p:cNvPicPr>
          <p:nvPr/>
        </p:nvPicPr>
        <p:blipFill>
          <a:blip r:embed="rId4"/>
          <a:stretch>
            <a:fillRect/>
          </a:stretch>
        </p:blipFill>
        <p:spPr>
          <a:xfrm>
            <a:off x="5115519" y="3469599"/>
            <a:ext cx="302849" cy="302849"/>
          </a:xfrm>
          <a:prstGeom prst="rect">
            <a:avLst/>
          </a:prstGeom>
        </p:spPr>
      </p:pic>
      <p:sp>
        <p:nvSpPr>
          <p:cNvPr id="22" name="Text 16"/>
          <p:cNvSpPr/>
          <p:nvPr/>
        </p:nvSpPr>
        <p:spPr>
          <a:xfrm>
            <a:off x="5806440" y="3200400"/>
            <a:ext cx="2697480" cy="365760"/>
          </a:xfrm>
          <a:prstGeom prst="rect">
            <a:avLst/>
          </a:prstGeom>
          <a:noFill/>
          <a:ln/>
        </p:spPr>
        <p:txBody>
          <a:bodyPr wrap="square" lIns="0" tIns="0" rIns="0" bIns="0" rtlCol="0" anchor="ctr"/>
          <a:lstStyle/>
          <a:p>
            <a:pPr indent="0" marL="0">
              <a:buNone/>
            </a:pPr>
            <a:r>
              <a:rPr lang="en-US" sz="1700" b="1" dirty="0">
                <a:solidFill>
                  <a:srgbClr val="33291F"/>
                </a:solidFill>
                <a:latin typeface="Cambria" pitchFamily="34" charset="0"/>
                <a:ea typeface="Cambria" pitchFamily="34" charset="-122"/>
                <a:cs typeface="Cambria" pitchFamily="34" charset="-120"/>
              </a:rPr>
              <a:t>Soil IP</a:t>
            </a:r>
            <a:endParaRPr lang="en-US" sz="1700" dirty="0"/>
          </a:p>
        </p:txBody>
      </p:sp>
      <p:sp>
        <p:nvSpPr>
          <p:cNvPr id="23" name="Text 17"/>
          <p:cNvSpPr/>
          <p:nvPr/>
        </p:nvSpPr>
        <p:spPr>
          <a:xfrm>
            <a:off x="5806440" y="3566160"/>
            <a:ext cx="2697480" cy="64008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Proprietary mix ratios per site — a database that compounds with every batch.</a:t>
            </a:r>
            <a:endParaRPr lang="en-US" sz="1150" dirty="0"/>
          </a:p>
        </p:txBody>
      </p:sp>
      <p:sp>
        <p:nvSpPr>
          <p:cNvPr id="24" name="Text 18"/>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62019"/>
        </a:solidFill>
      </p:bgPr>
    </p:bg>
    <p:spTree>
      <p:nvGrpSpPr>
        <p:cNvPr id="1" name=""/>
        <p:cNvGrpSpPr/>
        <p:nvPr/>
      </p:nvGrpSpPr>
      <p:grpSpPr>
        <a:xfrm>
          <a:off x="0" y="0"/>
          <a:ext cx="0" cy="0"/>
          <a:chOff x="0" y="0"/>
          <a:chExt cx="0" cy="0"/>
        </a:xfrm>
      </p:grpSpPr>
      <p:sp>
        <p:nvSpPr>
          <p:cNvPr id="2" name="Shape 0"/>
          <p:cNvSpPr/>
          <p:nvPr/>
        </p:nvSpPr>
        <p:spPr>
          <a:xfrm>
            <a:off x="-274320" y="3977640"/>
            <a:ext cx="493776" cy="310896"/>
          </a:xfrm>
          <a:prstGeom prst="rect">
            <a:avLst/>
          </a:prstGeom>
          <a:solidFill>
            <a:srgbClr val="2E251B"/>
          </a:solidFill>
          <a:ln w="6350">
            <a:solidFill>
              <a:srgbClr val="3A2D21"/>
            </a:solidFill>
            <a:prstDash val="solid"/>
          </a:ln>
        </p:spPr>
      </p:sp>
      <p:sp>
        <p:nvSpPr>
          <p:cNvPr id="3" name="Shape 1"/>
          <p:cNvSpPr/>
          <p:nvPr/>
        </p:nvSpPr>
        <p:spPr>
          <a:xfrm>
            <a:off x="292608" y="3977640"/>
            <a:ext cx="493776" cy="310896"/>
          </a:xfrm>
          <a:prstGeom prst="rect">
            <a:avLst/>
          </a:prstGeom>
          <a:solidFill>
            <a:srgbClr val="2E251B"/>
          </a:solidFill>
          <a:ln w="6350">
            <a:solidFill>
              <a:srgbClr val="3A2D21"/>
            </a:solidFill>
            <a:prstDash val="solid"/>
          </a:ln>
        </p:spPr>
      </p:sp>
      <p:sp>
        <p:nvSpPr>
          <p:cNvPr id="4" name="Shape 2"/>
          <p:cNvSpPr/>
          <p:nvPr/>
        </p:nvSpPr>
        <p:spPr>
          <a:xfrm>
            <a:off x="859536" y="3977640"/>
            <a:ext cx="493776" cy="310896"/>
          </a:xfrm>
          <a:prstGeom prst="rect">
            <a:avLst/>
          </a:prstGeom>
          <a:solidFill>
            <a:srgbClr val="2E251B"/>
          </a:solidFill>
          <a:ln w="6350">
            <a:solidFill>
              <a:srgbClr val="3A2D21"/>
            </a:solidFill>
            <a:prstDash val="solid"/>
          </a:ln>
        </p:spPr>
      </p:sp>
      <p:sp>
        <p:nvSpPr>
          <p:cNvPr id="5" name="Shape 3"/>
          <p:cNvSpPr/>
          <p:nvPr/>
        </p:nvSpPr>
        <p:spPr>
          <a:xfrm>
            <a:off x="1426464" y="3977640"/>
            <a:ext cx="493776" cy="310896"/>
          </a:xfrm>
          <a:prstGeom prst="rect">
            <a:avLst/>
          </a:prstGeom>
          <a:solidFill>
            <a:srgbClr val="2E251B"/>
          </a:solidFill>
          <a:ln w="6350">
            <a:solidFill>
              <a:srgbClr val="3A2D21"/>
            </a:solidFill>
            <a:prstDash val="solid"/>
          </a:ln>
        </p:spPr>
      </p:sp>
      <p:sp>
        <p:nvSpPr>
          <p:cNvPr id="6" name="Shape 4"/>
          <p:cNvSpPr/>
          <p:nvPr/>
        </p:nvSpPr>
        <p:spPr>
          <a:xfrm>
            <a:off x="1993392" y="3977640"/>
            <a:ext cx="493776" cy="310896"/>
          </a:xfrm>
          <a:prstGeom prst="rect">
            <a:avLst/>
          </a:prstGeom>
          <a:solidFill>
            <a:srgbClr val="2E251B"/>
          </a:solidFill>
          <a:ln w="6350">
            <a:solidFill>
              <a:srgbClr val="3A2D21"/>
            </a:solidFill>
            <a:prstDash val="solid"/>
          </a:ln>
        </p:spPr>
      </p:sp>
      <p:sp>
        <p:nvSpPr>
          <p:cNvPr id="7" name="Shape 5"/>
          <p:cNvSpPr/>
          <p:nvPr/>
        </p:nvSpPr>
        <p:spPr>
          <a:xfrm>
            <a:off x="9144" y="4361688"/>
            <a:ext cx="493776" cy="310896"/>
          </a:xfrm>
          <a:prstGeom prst="rect">
            <a:avLst/>
          </a:prstGeom>
          <a:solidFill>
            <a:srgbClr val="2E251B"/>
          </a:solidFill>
          <a:ln w="6350">
            <a:solidFill>
              <a:srgbClr val="3A2D21"/>
            </a:solidFill>
            <a:prstDash val="solid"/>
          </a:ln>
        </p:spPr>
      </p:sp>
      <p:sp>
        <p:nvSpPr>
          <p:cNvPr id="8" name="Shape 6"/>
          <p:cNvSpPr/>
          <p:nvPr/>
        </p:nvSpPr>
        <p:spPr>
          <a:xfrm>
            <a:off x="576072" y="4361688"/>
            <a:ext cx="493776" cy="310896"/>
          </a:xfrm>
          <a:prstGeom prst="rect">
            <a:avLst/>
          </a:prstGeom>
          <a:solidFill>
            <a:srgbClr val="2E251B"/>
          </a:solidFill>
          <a:ln w="6350">
            <a:solidFill>
              <a:srgbClr val="3A2D21"/>
            </a:solidFill>
            <a:prstDash val="solid"/>
          </a:ln>
        </p:spPr>
      </p:sp>
      <p:sp>
        <p:nvSpPr>
          <p:cNvPr id="9" name="Shape 7"/>
          <p:cNvSpPr/>
          <p:nvPr/>
        </p:nvSpPr>
        <p:spPr>
          <a:xfrm>
            <a:off x="1143000" y="4361688"/>
            <a:ext cx="493776" cy="310896"/>
          </a:xfrm>
          <a:prstGeom prst="rect">
            <a:avLst/>
          </a:prstGeom>
          <a:solidFill>
            <a:srgbClr val="B85042"/>
          </a:solidFill>
          <a:ln w="6350">
            <a:solidFill>
              <a:srgbClr val="3A2D21"/>
            </a:solidFill>
            <a:prstDash val="solid"/>
          </a:ln>
        </p:spPr>
      </p:sp>
      <p:sp>
        <p:nvSpPr>
          <p:cNvPr id="10" name="Shape 8"/>
          <p:cNvSpPr/>
          <p:nvPr/>
        </p:nvSpPr>
        <p:spPr>
          <a:xfrm>
            <a:off x="1709928" y="4361688"/>
            <a:ext cx="493776" cy="310896"/>
          </a:xfrm>
          <a:prstGeom prst="rect">
            <a:avLst/>
          </a:prstGeom>
          <a:solidFill>
            <a:srgbClr val="2E251B"/>
          </a:solidFill>
          <a:ln w="6350">
            <a:solidFill>
              <a:srgbClr val="3A2D21"/>
            </a:solidFill>
            <a:prstDash val="solid"/>
          </a:ln>
        </p:spPr>
      </p:sp>
      <p:sp>
        <p:nvSpPr>
          <p:cNvPr id="11" name="Shape 9"/>
          <p:cNvSpPr/>
          <p:nvPr/>
        </p:nvSpPr>
        <p:spPr>
          <a:xfrm>
            <a:off x="2276856" y="4361688"/>
            <a:ext cx="493776" cy="310896"/>
          </a:xfrm>
          <a:prstGeom prst="rect">
            <a:avLst/>
          </a:prstGeom>
          <a:solidFill>
            <a:srgbClr val="2E251B"/>
          </a:solidFill>
          <a:ln w="6350">
            <a:solidFill>
              <a:srgbClr val="3A2D21"/>
            </a:solidFill>
            <a:prstDash val="solid"/>
          </a:ln>
        </p:spPr>
      </p:sp>
      <p:sp>
        <p:nvSpPr>
          <p:cNvPr id="12" name="Shape 10"/>
          <p:cNvSpPr/>
          <p:nvPr/>
        </p:nvSpPr>
        <p:spPr>
          <a:xfrm>
            <a:off x="-274320" y="4745736"/>
            <a:ext cx="493776" cy="310896"/>
          </a:xfrm>
          <a:prstGeom prst="rect">
            <a:avLst/>
          </a:prstGeom>
          <a:solidFill>
            <a:srgbClr val="2E251B"/>
          </a:solidFill>
          <a:ln w="6350">
            <a:solidFill>
              <a:srgbClr val="3A2D21"/>
            </a:solidFill>
            <a:prstDash val="solid"/>
          </a:ln>
        </p:spPr>
      </p:sp>
      <p:sp>
        <p:nvSpPr>
          <p:cNvPr id="13" name="Shape 11"/>
          <p:cNvSpPr/>
          <p:nvPr/>
        </p:nvSpPr>
        <p:spPr>
          <a:xfrm>
            <a:off x="292608" y="4745736"/>
            <a:ext cx="493776" cy="310896"/>
          </a:xfrm>
          <a:prstGeom prst="rect">
            <a:avLst/>
          </a:prstGeom>
          <a:solidFill>
            <a:srgbClr val="2E251B"/>
          </a:solidFill>
          <a:ln w="6350">
            <a:solidFill>
              <a:srgbClr val="3A2D21"/>
            </a:solidFill>
            <a:prstDash val="solid"/>
          </a:ln>
        </p:spPr>
      </p:sp>
      <p:sp>
        <p:nvSpPr>
          <p:cNvPr id="14" name="Shape 12"/>
          <p:cNvSpPr/>
          <p:nvPr/>
        </p:nvSpPr>
        <p:spPr>
          <a:xfrm>
            <a:off x="859536" y="4745736"/>
            <a:ext cx="493776" cy="310896"/>
          </a:xfrm>
          <a:prstGeom prst="rect">
            <a:avLst/>
          </a:prstGeom>
          <a:solidFill>
            <a:srgbClr val="2E251B"/>
          </a:solidFill>
          <a:ln w="6350">
            <a:solidFill>
              <a:srgbClr val="3A2D21"/>
            </a:solidFill>
            <a:prstDash val="solid"/>
          </a:ln>
        </p:spPr>
      </p:sp>
      <p:sp>
        <p:nvSpPr>
          <p:cNvPr id="15" name="Shape 13"/>
          <p:cNvSpPr/>
          <p:nvPr/>
        </p:nvSpPr>
        <p:spPr>
          <a:xfrm>
            <a:off x="1426464" y="4745736"/>
            <a:ext cx="493776" cy="310896"/>
          </a:xfrm>
          <a:prstGeom prst="rect">
            <a:avLst/>
          </a:prstGeom>
          <a:solidFill>
            <a:srgbClr val="2E251B"/>
          </a:solidFill>
          <a:ln w="6350">
            <a:solidFill>
              <a:srgbClr val="3A2D21"/>
            </a:solidFill>
            <a:prstDash val="solid"/>
          </a:ln>
        </p:spPr>
      </p:sp>
      <p:sp>
        <p:nvSpPr>
          <p:cNvPr id="16" name="Shape 14"/>
          <p:cNvSpPr/>
          <p:nvPr/>
        </p:nvSpPr>
        <p:spPr>
          <a:xfrm>
            <a:off x="1993392" y="4745736"/>
            <a:ext cx="493776" cy="310896"/>
          </a:xfrm>
          <a:prstGeom prst="rect">
            <a:avLst/>
          </a:prstGeom>
          <a:solidFill>
            <a:srgbClr val="2E251B"/>
          </a:solidFill>
          <a:ln w="6350">
            <a:solidFill>
              <a:srgbClr val="3A2D21"/>
            </a:solidFill>
            <a:prstDash val="solid"/>
          </a:ln>
        </p:spPr>
      </p:sp>
      <p:sp>
        <p:nvSpPr>
          <p:cNvPr id="17" name="Text 15"/>
          <p:cNvSpPr/>
          <p:nvPr/>
        </p:nvSpPr>
        <p:spPr>
          <a:xfrm>
            <a:off x="548640" y="137160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 the future of Telangana,</a:t>
            </a:r>
            <a:endParaRPr lang="en-US" sz="3200" dirty="0"/>
          </a:p>
        </p:txBody>
      </p:sp>
      <p:sp>
        <p:nvSpPr>
          <p:cNvPr id="18" name="Text 16"/>
          <p:cNvSpPr/>
          <p:nvPr/>
        </p:nvSpPr>
        <p:spPr>
          <a:xfrm>
            <a:off x="548640" y="196596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a:t>
            </a:r>
            <a:pPr indent="0" marL="0">
              <a:buNone/>
            </a:pPr>
            <a:r>
              <a:rPr lang="en-US" sz="3200" b="1" dirty="0">
                <a:solidFill>
                  <a:srgbClr val="B85042"/>
                </a:solidFill>
                <a:latin typeface="Cambria" pitchFamily="34" charset="0"/>
                <a:ea typeface="Cambria" pitchFamily="34" charset="-122"/>
                <a:cs typeface="Cambria" pitchFamily="34" charset="-120"/>
              </a:rPr>
              <a:t>earth block</a:t>
            </a:r>
            <a:pPr indent="0" marL="0">
              <a:buNone/>
            </a:pPr>
            <a:r>
              <a:rPr lang="en-US" sz="3200" b="1" dirty="0">
                <a:solidFill>
                  <a:srgbClr val="FFFFFF"/>
                </a:solidFill>
                <a:latin typeface="Cambria" pitchFamily="34" charset="0"/>
                <a:ea typeface="Cambria" pitchFamily="34" charset="-122"/>
                <a:cs typeface="Cambria" pitchFamily="34" charset="-120"/>
              </a:rPr>
              <a:t> at a time.</a:t>
            </a:r>
            <a:endParaRPr lang="en-US" sz="3200" dirty="0"/>
          </a:p>
        </p:txBody>
      </p:sp>
      <p:sp>
        <p:nvSpPr>
          <p:cNvPr id="19" name="Text 17"/>
          <p:cNvSpPr/>
          <p:nvPr/>
        </p:nvSpPr>
        <p:spPr>
          <a:xfrm>
            <a:off x="566928" y="2697480"/>
            <a:ext cx="7863840" cy="457200"/>
          </a:xfrm>
          <a:prstGeom prst="rect">
            <a:avLst/>
          </a:prstGeom>
          <a:noFill/>
          <a:ln/>
        </p:spPr>
        <p:txBody>
          <a:bodyPr wrap="square" lIns="0" tIns="0" rIns="0" bIns="0" rtlCol="0" anchor="ctr"/>
          <a:lstStyle/>
          <a:p>
            <a:pPr indent="0" marL="0">
              <a:buNone/>
            </a:pPr>
            <a:r>
              <a:rPr lang="en-US" sz="1500" i="1" dirty="0">
                <a:solidFill>
                  <a:srgbClr val="EDE7D9"/>
                </a:solidFill>
                <a:latin typeface="Cambria" pitchFamily="34" charset="0"/>
                <a:ea typeface="Cambria" pitchFamily="34" charset="-122"/>
                <a:cs typeface="Cambria" pitchFamily="34" charset="-120"/>
              </a:rPr>
              <a:t>An empty shelf, a documented demand, and a product the market has never been offered.</a:t>
            </a:r>
            <a:endParaRPr lang="en-US" sz="1500" dirty="0"/>
          </a:p>
        </p:txBody>
      </p:sp>
      <p:sp>
        <p:nvSpPr>
          <p:cNvPr id="20" name="Shape 18"/>
          <p:cNvSpPr/>
          <p:nvPr/>
        </p:nvSpPr>
        <p:spPr>
          <a:xfrm>
            <a:off x="566928" y="3383280"/>
            <a:ext cx="502920" cy="54864"/>
          </a:xfrm>
          <a:prstGeom prst="rect">
            <a:avLst/>
          </a:prstGeom>
          <a:solidFill>
            <a:srgbClr val="B85042"/>
          </a:solidFill>
          <a:ln/>
        </p:spPr>
      </p:sp>
      <p:sp>
        <p:nvSpPr>
          <p:cNvPr id="21" name="Text 19"/>
          <p:cNvSpPr/>
          <p:nvPr/>
        </p:nvSpPr>
        <p:spPr>
          <a:xfrm>
            <a:off x="566928" y="3566160"/>
            <a:ext cx="8229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TerraBlock</a:t>
            </a:r>
            <a:pPr indent="0" marL="0">
              <a:buNone/>
            </a:pPr>
            <a:r>
              <a:rPr lang="en-US" sz="1400" dirty="0">
                <a:solidFill>
                  <a:srgbClr val="BCAE9C"/>
                </a:solidFill>
                <a:latin typeface="Calibri" pitchFamily="34" charset="0"/>
                <a:ea typeface="Calibri" pitchFamily="34" charset="-122"/>
                <a:cs typeface="Calibri" pitchFamily="34" charset="-120"/>
              </a:rPr>
              <a:t>   ·   Ranga Reddy, Telangana   ·   Let's talk.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TerraBlock — Investor Presentation</dc:title>
  <dc:subject>PptxGenJS Presentation</dc:subject>
  <dc:creator>TerraBlock</dc:creator>
  <cp:lastModifiedBy>TerraBlock</cp:lastModifiedBy>
  <cp:revision>1</cp:revision>
  <dcterms:created xsi:type="dcterms:W3CDTF">2026-06-26T05:21:49Z</dcterms:created>
  <dcterms:modified xsi:type="dcterms:W3CDTF">2026-06-26T05:21:49Z</dcterms:modified>
</cp:coreProperties>
</file>